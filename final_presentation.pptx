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71" r:id="rId18"/>
    <p:sldId id="269" r:id="rId19"/>
    <p:sldId id="272" r:id="rId20"/>
    <p:sldId id="273" r:id="rId21"/>
    <p:sldId id="270" r:id="rId22"/>
    <p:sldId id="27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6" d="100"/>
          <a:sy n="96" d="100"/>
        </p:scale>
        <p:origin x="178"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8/14/2026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53FAE64-2F1B-47AD-96F3-CA35460E01C7}" type="datetime1">
              <a:rPr lang="en-US" smtClean="0"/>
              <a:t>8/14/2026</a:t>
            </a:fld>
            <a:endParaRPr lang="en-US" dirty="0"/>
          </a:p>
        </p:txBody>
      </p:sp>
      <p:sp>
        <p:nvSpPr>
          <p:cNvPr id="5" name="Footer Placeholder 4"/>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729097-6EF5-45C1-8A89-1E1AC74DD17E}" type="datetime1">
              <a:rPr lang="en-US" smtClean="0"/>
              <a:t>8/14/2026</a:t>
            </a:fld>
            <a:endParaRPr lang="en-US" dirty="0"/>
          </a:p>
        </p:txBody>
      </p:sp>
      <p:sp>
        <p:nvSpPr>
          <p:cNvPr id="5" name="Footer Placeholder 4"/>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D31800-4390-41BB-B66D-0BF854728D3B}" type="datetime1">
              <a:rPr lang="en-US" smtClean="0"/>
              <a:t>8/14/2026</a:t>
            </a:fld>
            <a:endParaRPr lang="en-US" dirty="0"/>
          </a:p>
        </p:txBody>
      </p:sp>
      <p:sp>
        <p:nvSpPr>
          <p:cNvPr id="6" name="Footer Placeholder 5"/>
          <p:cNvSpPr>
            <a:spLocks noGrp="1"/>
          </p:cNvSpPr>
          <p:nvPr>
            <p:ph type="ftr" sz="quarter" idx="11"/>
          </p:nvPr>
        </p:nvSpPr>
        <p:spPr/>
        <p:txBody>
          <a:bodyPr/>
          <a:lstStyle/>
          <a:p>
            <a:r>
              <a:rPr lang="en-US"/>
              <a:t>SDAAI/Final Presentation/Capstone Project 2021</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016119-7418-4941-8BFB-252980A6B8EB}" type="datetime1">
              <a:rPr lang="en-US" smtClean="0"/>
              <a:t>8/14/2026</a:t>
            </a:fld>
            <a:endParaRPr lang="en-US" dirty="0"/>
          </a:p>
        </p:txBody>
      </p:sp>
      <p:sp>
        <p:nvSpPr>
          <p:cNvPr id="8" name="Footer Placeholder 7"/>
          <p:cNvSpPr>
            <a:spLocks noGrp="1"/>
          </p:cNvSpPr>
          <p:nvPr>
            <p:ph type="ftr" sz="quarter" idx="11"/>
          </p:nvPr>
        </p:nvSpPr>
        <p:spPr/>
        <p:txBody>
          <a:bodyPr/>
          <a:lstStyle/>
          <a:p>
            <a:r>
              <a:rPr lang="en-US"/>
              <a:t>SDAAI/Final Presentation/Capstone Project 2021</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CF032D-20D7-43DE-AF2F-AC94D62630EF}" type="datetime1">
              <a:rPr lang="en-US" smtClean="0"/>
              <a:t>8/14/2026</a:t>
            </a:fld>
            <a:endParaRPr lang="en-US" dirty="0"/>
          </a:p>
        </p:txBody>
      </p:sp>
      <p:sp>
        <p:nvSpPr>
          <p:cNvPr id="4" name="Footer Placeholder 3"/>
          <p:cNvSpPr>
            <a:spLocks noGrp="1"/>
          </p:cNvSpPr>
          <p:nvPr>
            <p:ph type="ftr" sz="quarter" idx="11"/>
          </p:nvPr>
        </p:nvSpPr>
        <p:spPr/>
        <p:txBody>
          <a:bodyPr/>
          <a:lstStyle/>
          <a:p>
            <a:r>
              <a:rPr lang="en-US"/>
              <a:t>SDAAI/Final Presentation/Capstone Project 2021</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A916F7-B21F-4D3B-931F-4E7DCD7D8EC5}" type="datetime1">
              <a:rPr lang="en-US" smtClean="0"/>
              <a:t>8/14/2026</a:t>
            </a:fld>
            <a:endParaRPr lang="en-US" dirty="0"/>
          </a:p>
        </p:txBody>
      </p:sp>
      <p:sp>
        <p:nvSpPr>
          <p:cNvPr id="3" name="Footer Placeholder 2"/>
          <p:cNvSpPr>
            <a:spLocks noGrp="1"/>
          </p:cNvSpPr>
          <p:nvPr>
            <p:ph type="ftr" sz="quarter" idx="11"/>
          </p:nvPr>
        </p:nvSpPr>
        <p:spPr/>
        <p:txBody>
          <a:bodyPr/>
          <a:lstStyle/>
          <a:p>
            <a:r>
              <a:rPr lang="en-US"/>
              <a:t>SDAAI/Final Presentation/Capstone Project 2021</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CD7EFD-5179-4DCD-9DD2-15C79218A131}" type="datetime1">
              <a:rPr lang="en-US" smtClean="0"/>
              <a:t>8/14/2026</a:t>
            </a:fld>
            <a:endParaRPr lang="en-US" dirty="0"/>
          </a:p>
        </p:txBody>
      </p:sp>
      <p:sp>
        <p:nvSpPr>
          <p:cNvPr id="6" name="Footer Placeholder 5"/>
          <p:cNvSpPr>
            <a:spLocks noGrp="1"/>
          </p:cNvSpPr>
          <p:nvPr>
            <p:ph type="ftr" sz="quarter" idx="11"/>
          </p:nvPr>
        </p:nvSpPr>
        <p:spPr/>
        <p:txBody>
          <a:bodyPr/>
          <a:lstStyle/>
          <a:p>
            <a:r>
              <a:rPr lang="en-US"/>
              <a:t>SDAAI/Final Presentation/Capstone Project 2021</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FDC1EF-1A0E-40CC-B33E-64C20C1210F9}" type="datetime1">
              <a:rPr lang="en-US" smtClean="0"/>
              <a:t>8/14/2026</a:t>
            </a:fld>
            <a:endParaRPr lang="en-US" dirty="0"/>
          </a:p>
        </p:txBody>
      </p:sp>
      <p:sp>
        <p:nvSpPr>
          <p:cNvPr id="6" name="Footer Placeholder 5"/>
          <p:cNvSpPr>
            <a:spLocks noGrp="1"/>
          </p:cNvSpPr>
          <p:nvPr>
            <p:ph type="ftr" sz="quarter" idx="11"/>
          </p:nvPr>
        </p:nvSpPr>
        <p:spPr/>
        <p:txBody>
          <a:bodyPr/>
          <a:lstStyle/>
          <a:p>
            <a:r>
              <a:rPr lang="en-US"/>
              <a:t>SDAAI/Final Presentation/Capstone Project 2021</a:t>
            </a:r>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6D5E30-6AB7-44C4-A5CB-C088C6BEF203}" type="datetime1">
              <a:rPr lang="en-US" smtClean="0"/>
              <a:t>8/14/2026</a:t>
            </a:fld>
            <a:endParaRPr lang="en-US" dirty="0"/>
          </a:p>
        </p:txBody>
      </p:sp>
      <p:sp>
        <p:nvSpPr>
          <p:cNvPr id="5" name="Footer Placeholder 4"/>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06BE9C-AFC8-48AF-BA3E-F4406B570D4B}" type="datetime1">
              <a:rPr lang="en-US" smtClean="0"/>
              <a:t>8/14/2026</a:t>
            </a:fld>
            <a:endParaRPr lang="en-US" dirty="0"/>
          </a:p>
        </p:txBody>
      </p:sp>
      <p:sp>
        <p:nvSpPr>
          <p:cNvPr id="5" name="Footer Placeholder 4"/>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8E0DE55-5DD4-4C9B-96DE-5A21E7BD76D8}" type="datetime1">
              <a:rPr lang="en-US" smtClean="0"/>
              <a:t>8/14/2026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SDAAI/Final Presentation/Capstone Project 2021</a:t>
            </a:r>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hdr="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b">
            <a:noAutofit/>
          </a:bodyPr>
          <a:lstStyle/>
          <a:p>
            <a:pPr algn="l"/>
            <a:r>
              <a:rPr lang="en-SG" sz="3200" b="1" dirty="0">
                <a:solidFill>
                  <a:schemeClr val="bg1"/>
                </a:solidFill>
              </a:rPr>
              <a:t>Streamlit-Based-Diabetes-Risk-Classification-Using-Machine-Learning</a:t>
            </a:r>
            <a:endParaRPr lang="en-US" sz="3200" dirty="0">
              <a:solidFill>
                <a:schemeClr val="bg1"/>
              </a:solidFill>
            </a:endParaRP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85000" lnSpcReduction="20000"/>
          </a:bodyPr>
          <a:lstStyle/>
          <a:p>
            <a:r>
              <a:rPr lang="en-US" dirty="0">
                <a:solidFill>
                  <a:srgbClr val="FFFFFF"/>
                </a:solidFill>
              </a:rPr>
              <a:t>Specialist Diploma in Applied Artificial Intelligence</a:t>
            </a:r>
          </a:p>
          <a:p>
            <a:r>
              <a:rPr lang="en-US" dirty="0">
                <a:solidFill>
                  <a:srgbClr val="FFFFFF"/>
                </a:solidFill>
              </a:rPr>
              <a:t>Capstone </a:t>
            </a:r>
            <a:r>
              <a:rPr lang="en-US">
                <a:solidFill>
                  <a:srgbClr val="FFFFFF"/>
                </a:solidFill>
              </a:rPr>
              <a:t>Project 2021</a:t>
            </a:r>
            <a:endParaRPr lang="en-US"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
        <p:nvSpPr>
          <p:cNvPr id="4" name="Date Placeholder 3">
            <a:extLst>
              <a:ext uri="{FF2B5EF4-FFF2-40B4-BE49-F238E27FC236}">
                <a16:creationId xmlns:a16="http://schemas.microsoft.com/office/drawing/2014/main" id="{82FB1A38-435A-3BFA-0AA9-69EDC85121E2}"/>
              </a:ext>
            </a:extLst>
          </p:cNvPr>
          <p:cNvSpPr>
            <a:spLocks noGrp="1"/>
          </p:cNvSpPr>
          <p:nvPr>
            <p:ph type="dt" sz="half" idx="10"/>
          </p:nvPr>
        </p:nvSpPr>
        <p:spPr/>
        <p:txBody>
          <a:bodyPr/>
          <a:lstStyle/>
          <a:p>
            <a:fld id="{054BEE79-B278-499F-AEF2-37C9A36D61DE}" type="datetime1">
              <a:rPr lang="en-US" smtClean="0"/>
              <a:t>8/14/2026</a:t>
            </a:fld>
            <a:endParaRPr lang="en-US" dirty="0"/>
          </a:p>
        </p:txBody>
      </p:sp>
      <p:sp>
        <p:nvSpPr>
          <p:cNvPr id="6" name="Footer Placeholder 5">
            <a:extLst>
              <a:ext uri="{FF2B5EF4-FFF2-40B4-BE49-F238E27FC236}">
                <a16:creationId xmlns:a16="http://schemas.microsoft.com/office/drawing/2014/main" id="{7692F492-17F4-B289-740C-D6A84450FD69}"/>
              </a:ext>
            </a:extLst>
          </p:cNvPr>
          <p:cNvSpPr>
            <a:spLocks noGrp="1"/>
          </p:cNvSpPr>
          <p:nvPr>
            <p:ph type="ftr" sz="quarter" idx="11"/>
          </p:nvPr>
        </p:nvSpPr>
        <p:spPr/>
        <p:txBody>
          <a:bodyPr/>
          <a:lstStyle/>
          <a:p>
            <a:r>
              <a:rPr lang="en-US"/>
              <a:t>SDAAI/Final Presentation/Capstone Project 2021</a:t>
            </a:r>
            <a:endParaRPr lang="en-US" dirty="0"/>
          </a:p>
        </p:txBody>
      </p:sp>
      <p:sp>
        <p:nvSpPr>
          <p:cNvPr id="7" name="Slide Number Placeholder 6">
            <a:extLst>
              <a:ext uri="{FF2B5EF4-FFF2-40B4-BE49-F238E27FC236}">
                <a16:creationId xmlns:a16="http://schemas.microsoft.com/office/drawing/2014/main" id="{8EB1E0CE-D446-78B0-2BA9-1AA9EC90FD01}"/>
              </a:ext>
            </a:extLst>
          </p:cNvPr>
          <p:cNvSpPr>
            <a:spLocks noGrp="1"/>
          </p:cNvSpPr>
          <p:nvPr>
            <p:ph type="sldNum" sz="quarter" idx="12"/>
          </p:nvPr>
        </p:nvSpPr>
        <p:spPr/>
        <p:txBody>
          <a:bodyPr/>
          <a:lstStyle/>
          <a:p>
            <a:fld id="{4FAB73BC-B049-4115-A692-8D63A059BFB8}" type="slidenum">
              <a:rPr lang="en-US" smtClean="0"/>
              <a:t>1</a:t>
            </a:fld>
            <a:endParaRPr lang="en-US" dirty="0"/>
          </a:p>
        </p:txBody>
      </p:sp>
      <p:pic>
        <p:nvPicPr>
          <p:cNvPr id="8" name="Picture 7">
            <a:extLst>
              <a:ext uri="{FF2B5EF4-FFF2-40B4-BE49-F238E27FC236}">
                <a16:creationId xmlns:a16="http://schemas.microsoft.com/office/drawing/2014/main" id="{A2D4E688-E397-112C-B49A-A4636F109BEC}"/>
              </a:ext>
            </a:extLst>
          </p:cNvPr>
          <p:cNvPicPr>
            <a:picLocks noChangeAspect="1"/>
          </p:cNvPicPr>
          <p:nvPr/>
        </p:nvPicPr>
        <p:blipFill>
          <a:blip r:embed="rId3"/>
          <a:stretch>
            <a:fillRect/>
          </a:stretch>
        </p:blipFill>
        <p:spPr>
          <a:xfrm>
            <a:off x="0" y="0"/>
            <a:ext cx="6744284" cy="1386960"/>
          </a:xfrm>
          <a:prstGeom prst="rect">
            <a:avLst/>
          </a:prstGeom>
        </p:spPr>
      </p:pic>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2FECB-A37D-8A50-E43E-015342B6A8E4}"/>
              </a:ext>
            </a:extLst>
          </p:cNvPr>
          <p:cNvSpPr>
            <a:spLocks noGrp="1"/>
          </p:cNvSpPr>
          <p:nvPr>
            <p:ph type="title"/>
          </p:nvPr>
        </p:nvSpPr>
        <p:spPr/>
        <p:txBody>
          <a:bodyPr/>
          <a:lstStyle/>
          <a:p>
            <a:r>
              <a:rPr lang="en-SG" dirty="0"/>
              <a:t>Imported Libraries</a:t>
            </a:r>
          </a:p>
        </p:txBody>
      </p:sp>
      <p:sp>
        <p:nvSpPr>
          <p:cNvPr id="4" name="Date Placeholder 3">
            <a:extLst>
              <a:ext uri="{FF2B5EF4-FFF2-40B4-BE49-F238E27FC236}">
                <a16:creationId xmlns:a16="http://schemas.microsoft.com/office/drawing/2014/main" id="{984DD692-A484-B2AD-19E7-9679A86B1A13}"/>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DEE8308B-EC15-2136-C069-51B893088842}"/>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A975D550-480C-B4AF-981C-DAF17C241F21}"/>
              </a:ext>
            </a:extLst>
          </p:cNvPr>
          <p:cNvSpPr>
            <a:spLocks noGrp="1"/>
          </p:cNvSpPr>
          <p:nvPr>
            <p:ph type="sldNum" sz="quarter" idx="12"/>
          </p:nvPr>
        </p:nvSpPr>
        <p:spPr/>
        <p:txBody>
          <a:bodyPr/>
          <a:lstStyle/>
          <a:p>
            <a:fld id="{4FAB73BC-B049-4115-A692-8D63A059BFB8}" type="slidenum">
              <a:rPr lang="en-US" smtClean="0"/>
              <a:t>2</a:t>
            </a:fld>
            <a:endParaRPr lang="en-US" dirty="0"/>
          </a:p>
        </p:txBody>
      </p:sp>
      <p:pic>
        <p:nvPicPr>
          <p:cNvPr id="8" name="Picture 7">
            <a:extLst>
              <a:ext uri="{FF2B5EF4-FFF2-40B4-BE49-F238E27FC236}">
                <a16:creationId xmlns:a16="http://schemas.microsoft.com/office/drawing/2014/main" id="{57580918-DD4C-8838-E186-D85F221DEE73}"/>
              </a:ext>
            </a:extLst>
          </p:cNvPr>
          <p:cNvPicPr>
            <a:picLocks noChangeAspect="1"/>
          </p:cNvPicPr>
          <p:nvPr/>
        </p:nvPicPr>
        <p:blipFill>
          <a:blip r:embed="rId2"/>
          <a:stretch>
            <a:fillRect/>
          </a:stretch>
        </p:blipFill>
        <p:spPr>
          <a:xfrm>
            <a:off x="1534918" y="1761527"/>
            <a:ext cx="9122163" cy="2838463"/>
          </a:xfrm>
          <a:prstGeom prst="rect">
            <a:avLst/>
          </a:prstGeom>
        </p:spPr>
      </p:pic>
      <p:sp>
        <p:nvSpPr>
          <p:cNvPr id="9" name="TextBox 8">
            <a:extLst>
              <a:ext uri="{FF2B5EF4-FFF2-40B4-BE49-F238E27FC236}">
                <a16:creationId xmlns:a16="http://schemas.microsoft.com/office/drawing/2014/main" id="{2777772C-66DE-FCF2-F28F-FF667D336E5A}"/>
              </a:ext>
            </a:extLst>
          </p:cNvPr>
          <p:cNvSpPr txBox="1"/>
          <p:nvPr/>
        </p:nvSpPr>
        <p:spPr>
          <a:xfrm>
            <a:off x="1377696" y="4954555"/>
            <a:ext cx="9279385" cy="707886"/>
          </a:xfrm>
          <a:prstGeom prst="rect">
            <a:avLst/>
          </a:prstGeom>
          <a:noFill/>
        </p:spPr>
        <p:txBody>
          <a:bodyPr wrap="square" rtlCol="0">
            <a:spAutoFit/>
          </a:bodyPr>
          <a:lstStyle/>
          <a:p>
            <a:r>
              <a:rPr lang="en-SG" sz="2000" dirty="0"/>
              <a:t>Imported Python libraries for data manipulation, visualization, preprocessing, resampling, model training, evaluation, and saving the trained model.</a:t>
            </a:r>
          </a:p>
        </p:txBody>
      </p:sp>
    </p:spTree>
    <p:extLst>
      <p:ext uri="{BB962C8B-B14F-4D97-AF65-F5344CB8AC3E}">
        <p14:creationId xmlns:p14="http://schemas.microsoft.com/office/powerpoint/2010/main" val="707782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2327A-9150-4AF9-49A9-F69BE7A363EA}"/>
              </a:ext>
            </a:extLst>
          </p:cNvPr>
          <p:cNvSpPr>
            <a:spLocks noGrp="1"/>
          </p:cNvSpPr>
          <p:nvPr>
            <p:ph type="title"/>
          </p:nvPr>
        </p:nvSpPr>
        <p:spPr/>
        <p:txBody>
          <a:bodyPr/>
          <a:lstStyle/>
          <a:p>
            <a:r>
              <a:rPr lang="en-SG" dirty="0"/>
              <a:t>Load Data</a:t>
            </a:r>
          </a:p>
        </p:txBody>
      </p:sp>
      <p:sp>
        <p:nvSpPr>
          <p:cNvPr id="4" name="Date Placeholder 3">
            <a:extLst>
              <a:ext uri="{FF2B5EF4-FFF2-40B4-BE49-F238E27FC236}">
                <a16:creationId xmlns:a16="http://schemas.microsoft.com/office/drawing/2014/main" id="{00ECDBB7-BDA1-8822-443E-32402226AB7D}"/>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64F49CF9-8C7B-A0CD-2657-5651B2802B68}"/>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83047891-7724-B3F2-8CF5-A4C295232B27}"/>
              </a:ext>
            </a:extLst>
          </p:cNvPr>
          <p:cNvSpPr>
            <a:spLocks noGrp="1"/>
          </p:cNvSpPr>
          <p:nvPr>
            <p:ph type="sldNum" sz="quarter" idx="12"/>
          </p:nvPr>
        </p:nvSpPr>
        <p:spPr/>
        <p:txBody>
          <a:bodyPr/>
          <a:lstStyle/>
          <a:p>
            <a:fld id="{4FAB73BC-B049-4115-A692-8D63A059BFB8}" type="slidenum">
              <a:rPr lang="en-US" smtClean="0"/>
              <a:t>3</a:t>
            </a:fld>
            <a:endParaRPr lang="en-US" dirty="0"/>
          </a:p>
        </p:txBody>
      </p:sp>
      <p:pic>
        <p:nvPicPr>
          <p:cNvPr id="8" name="Picture 7">
            <a:extLst>
              <a:ext uri="{FF2B5EF4-FFF2-40B4-BE49-F238E27FC236}">
                <a16:creationId xmlns:a16="http://schemas.microsoft.com/office/drawing/2014/main" id="{75A2BC53-6930-9325-2143-0BD39F58A83A}"/>
              </a:ext>
            </a:extLst>
          </p:cNvPr>
          <p:cNvPicPr>
            <a:picLocks noChangeAspect="1"/>
          </p:cNvPicPr>
          <p:nvPr/>
        </p:nvPicPr>
        <p:blipFill>
          <a:blip r:embed="rId2"/>
          <a:stretch>
            <a:fillRect/>
          </a:stretch>
        </p:blipFill>
        <p:spPr>
          <a:xfrm>
            <a:off x="3717677" y="2203293"/>
            <a:ext cx="5055173" cy="2451413"/>
          </a:xfrm>
          <a:prstGeom prst="rect">
            <a:avLst/>
          </a:prstGeom>
        </p:spPr>
      </p:pic>
      <p:sp>
        <p:nvSpPr>
          <p:cNvPr id="10" name="TextBox 9">
            <a:extLst>
              <a:ext uri="{FF2B5EF4-FFF2-40B4-BE49-F238E27FC236}">
                <a16:creationId xmlns:a16="http://schemas.microsoft.com/office/drawing/2014/main" id="{4DCA6472-386D-2E14-8D8A-0DF772E33864}"/>
              </a:ext>
            </a:extLst>
          </p:cNvPr>
          <p:cNvSpPr txBox="1"/>
          <p:nvPr/>
        </p:nvSpPr>
        <p:spPr>
          <a:xfrm>
            <a:off x="1377696" y="4954555"/>
            <a:ext cx="9279385" cy="707886"/>
          </a:xfrm>
          <a:prstGeom prst="rect">
            <a:avLst/>
          </a:prstGeom>
          <a:noFill/>
        </p:spPr>
        <p:txBody>
          <a:bodyPr wrap="square" rtlCol="0">
            <a:spAutoFit/>
          </a:bodyPr>
          <a:lstStyle/>
          <a:p>
            <a:r>
              <a:rPr lang="en-SG" sz="2000" dirty="0"/>
              <a:t>Loaded the diabetes dataset from data.csv, displayed first few records, inspected the data information. </a:t>
            </a:r>
          </a:p>
        </p:txBody>
      </p:sp>
    </p:spTree>
    <p:extLst>
      <p:ext uri="{BB962C8B-B14F-4D97-AF65-F5344CB8AC3E}">
        <p14:creationId xmlns:p14="http://schemas.microsoft.com/office/powerpoint/2010/main" val="820471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55052-83B9-A8A2-B1D8-49E66F5EDA53}"/>
              </a:ext>
            </a:extLst>
          </p:cNvPr>
          <p:cNvSpPr>
            <a:spLocks noGrp="1"/>
          </p:cNvSpPr>
          <p:nvPr>
            <p:ph type="title"/>
          </p:nvPr>
        </p:nvSpPr>
        <p:spPr/>
        <p:txBody>
          <a:bodyPr/>
          <a:lstStyle/>
          <a:p>
            <a:r>
              <a:rPr lang="en-SG" dirty="0"/>
              <a:t>Inspect and Data Cleaning</a:t>
            </a:r>
          </a:p>
        </p:txBody>
      </p:sp>
      <p:sp>
        <p:nvSpPr>
          <p:cNvPr id="4" name="Date Placeholder 3">
            <a:extLst>
              <a:ext uri="{FF2B5EF4-FFF2-40B4-BE49-F238E27FC236}">
                <a16:creationId xmlns:a16="http://schemas.microsoft.com/office/drawing/2014/main" id="{5C3D9FDA-6CBC-2647-EABB-E5C365721A72}"/>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8C5F8F11-3CC5-EE99-52A4-87DBC26C835D}"/>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8ED4C476-7DC8-E213-4036-527833590EE1}"/>
              </a:ext>
            </a:extLst>
          </p:cNvPr>
          <p:cNvSpPr>
            <a:spLocks noGrp="1"/>
          </p:cNvSpPr>
          <p:nvPr>
            <p:ph type="sldNum" sz="quarter" idx="12"/>
          </p:nvPr>
        </p:nvSpPr>
        <p:spPr/>
        <p:txBody>
          <a:bodyPr/>
          <a:lstStyle/>
          <a:p>
            <a:fld id="{4FAB73BC-B049-4115-A692-8D63A059BFB8}" type="slidenum">
              <a:rPr lang="en-US" smtClean="0"/>
              <a:t>4</a:t>
            </a:fld>
            <a:endParaRPr lang="en-US" dirty="0"/>
          </a:p>
        </p:txBody>
      </p:sp>
      <p:pic>
        <p:nvPicPr>
          <p:cNvPr id="8" name="Picture 7">
            <a:extLst>
              <a:ext uri="{FF2B5EF4-FFF2-40B4-BE49-F238E27FC236}">
                <a16:creationId xmlns:a16="http://schemas.microsoft.com/office/drawing/2014/main" id="{6ED37AA2-81D1-9D0D-BFD7-6C36A4A2E862}"/>
              </a:ext>
            </a:extLst>
          </p:cNvPr>
          <p:cNvPicPr>
            <a:picLocks noChangeAspect="1"/>
          </p:cNvPicPr>
          <p:nvPr/>
        </p:nvPicPr>
        <p:blipFill>
          <a:blip r:embed="rId2"/>
          <a:stretch>
            <a:fillRect/>
          </a:stretch>
        </p:blipFill>
        <p:spPr>
          <a:xfrm>
            <a:off x="3729065" y="2084832"/>
            <a:ext cx="5221991" cy="2898738"/>
          </a:xfrm>
          <a:prstGeom prst="rect">
            <a:avLst/>
          </a:prstGeom>
        </p:spPr>
      </p:pic>
      <p:sp>
        <p:nvSpPr>
          <p:cNvPr id="10" name="TextBox 9">
            <a:extLst>
              <a:ext uri="{FF2B5EF4-FFF2-40B4-BE49-F238E27FC236}">
                <a16:creationId xmlns:a16="http://schemas.microsoft.com/office/drawing/2014/main" id="{7D132350-502F-1FC6-CCBD-F96A5721142A}"/>
              </a:ext>
            </a:extLst>
          </p:cNvPr>
          <p:cNvSpPr txBox="1"/>
          <p:nvPr/>
        </p:nvSpPr>
        <p:spPr>
          <a:xfrm>
            <a:off x="1557948" y="5125243"/>
            <a:ext cx="9609924" cy="707886"/>
          </a:xfrm>
          <a:prstGeom prst="rect">
            <a:avLst/>
          </a:prstGeom>
          <a:noFill/>
        </p:spPr>
        <p:txBody>
          <a:bodyPr wrap="square" rtlCol="0">
            <a:spAutoFit/>
          </a:bodyPr>
          <a:lstStyle/>
          <a:p>
            <a:r>
              <a:rPr lang="en-SG" sz="2000" dirty="0"/>
              <a:t>Checked for duplicate and missing values. Removed duplicated rows from the dataset and rechecked that no duplicates remained. Missing values were also checked before modelling. </a:t>
            </a:r>
          </a:p>
        </p:txBody>
      </p:sp>
    </p:spTree>
    <p:extLst>
      <p:ext uri="{BB962C8B-B14F-4D97-AF65-F5344CB8AC3E}">
        <p14:creationId xmlns:p14="http://schemas.microsoft.com/office/powerpoint/2010/main" val="412213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47FA1-79D1-B870-409C-06A28B4174A8}"/>
              </a:ext>
            </a:extLst>
          </p:cNvPr>
          <p:cNvSpPr>
            <a:spLocks noGrp="1"/>
          </p:cNvSpPr>
          <p:nvPr>
            <p:ph type="title"/>
          </p:nvPr>
        </p:nvSpPr>
        <p:spPr/>
        <p:txBody>
          <a:bodyPr/>
          <a:lstStyle/>
          <a:p>
            <a:r>
              <a:rPr lang="en-SG" dirty="0"/>
              <a:t>Categorical encoding</a:t>
            </a:r>
          </a:p>
        </p:txBody>
      </p:sp>
      <p:sp>
        <p:nvSpPr>
          <p:cNvPr id="4" name="Date Placeholder 3">
            <a:extLst>
              <a:ext uri="{FF2B5EF4-FFF2-40B4-BE49-F238E27FC236}">
                <a16:creationId xmlns:a16="http://schemas.microsoft.com/office/drawing/2014/main" id="{2A02B51C-6E8F-EAF4-9736-904A4209CA62}"/>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E48BA040-046B-8EA9-A377-7F33D771E984}"/>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B746EE2D-9ACB-6722-4248-DC060DA4ECC3}"/>
              </a:ext>
            </a:extLst>
          </p:cNvPr>
          <p:cNvSpPr>
            <a:spLocks noGrp="1"/>
          </p:cNvSpPr>
          <p:nvPr>
            <p:ph type="sldNum" sz="quarter" idx="12"/>
          </p:nvPr>
        </p:nvSpPr>
        <p:spPr/>
        <p:txBody>
          <a:bodyPr/>
          <a:lstStyle/>
          <a:p>
            <a:fld id="{4FAB73BC-B049-4115-A692-8D63A059BFB8}" type="slidenum">
              <a:rPr lang="en-US" smtClean="0"/>
              <a:t>5</a:t>
            </a:fld>
            <a:endParaRPr lang="en-US" dirty="0"/>
          </a:p>
        </p:txBody>
      </p:sp>
      <p:pic>
        <p:nvPicPr>
          <p:cNvPr id="8" name="Picture 7">
            <a:extLst>
              <a:ext uri="{FF2B5EF4-FFF2-40B4-BE49-F238E27FC236}">
                <a16:creationId xmlns:a16="http://schemas.microsoft.com/office/drawing/2014/main" id="{135983C4-8E65-2089-874C-F25945FD92DB}"/>
              </a:ext>
            </a:extLst>
          </p:cNvPr>
          <p:cNvPicPr>
            <a:picLocks noChangeAspect="1"/>
          </p:cNvPicPr>
          <p:nvPr/>
        </p:nvPicPr>
        <p:blipFill>
          <a:blip r:embed="rId2"/>
          <a:stretch>
            <a:fillRect/>
          </a:stretch>
        </p:blipFill>
        <p:spPr>
          <a:xfrm>
            <a:off x="880475" y="1890648"/>
            <a:ext cx="5215525" cy="1961620"/>
          </a:xfrm>
          <a:prstGeom prst="rect">
            <a:avLst/>
          </a:prstGeom>
        </p:spPr>
      </p:pic>
      <p:pic>
        <p:nvPicPr>
          <p:cNvPr id="10" name="Picture 9">
            <a:extLst>
              <a:ext uri="{FF2B5EF4-FFF2-40B4-BE49-F238E27FC236}">
                <a16:creationId xmlns:a16="http://schemas.microsoft.com/office/drawing/2014/main" id="{5E427FC2-7A6F-7858-EA2D-41EFBD30E9FB}"/>
              </a:ext>
            </a:extLst>
          </p:cNvPr>
          <p:cNvPicPr>
            <a:picLocks noChangeAspect="1"/>
          </p:cNvPicPr>
          <p:nvPr/>
        </p:nvPicPr>
        <p:blipFill>
          <a:blip r:embed="rId3"/>
          <a:stretch>
            <a:fillRect/>
          </a:stretch>
        </p:blipFill>
        <p:spPr>
          <a:xfrm>
            <a:off x="6110219" y="1890648"/>
            <a:ext cx="5807344" cy="2882521"/>
          </a:xfrm>
          <a:prstGeom prst="rect">
            <a:avLst/>
          </a:prstGeom>
        </p:spPr>
      </p:pic>
      <p:sp>
        <p:nvSpPr>
          <p:cNvPr id="12" name="TextBox 11">
            <a:extLst>
              <a:ext uri="{FF2B5EF4-FFF2-40B4-BE49-F238E27FC236}">
                <a16:creationId xmlns:a16="http://schemas.microsoft.com/office/drawing/2014/main" id="{00F7E5E6-AA8A-4613-54F9-2AEA9E8826E0}"/>
              </a:ext>
            </a:extLst>
          </p:cNvPr>
          <p:cNvSpPr txBox="1"/>
          <p:nvPr/>
        </p:nvSpPr>
        <p:spPr>
          <a:xfrm>
            <a:off x="880475" y="5125243"/>
            <a:ext cx="10714117" cy="1015663"/>
          </a:xfrm>
          <a:prstGeom prst="rect">
            <a:avLst/>
          </a:prstGeom>
          <a:noFill/>
        </p:spPr>
        <p:txBody>
          <a:bodyPr wrap="square" rtlCol="0">
            <a:spAutoFit/>
          </a:bodyPr>
          <a:lstStyle/>
          <a:p>
            <a:r>
              <a:rPr lang="en-SG" sz="2000" dirty="0"/>
              <a:t>Converted categorical variables into numerical values so that machine-learning algorithms could process them. </a:t>
            </a:r>
            <a:r>
              <a:rPr lang="en-SG" sz="2000" b="1" dirty="0"/>
              <a:t>gender</a:t>
            </a:r>
            <a:r>
              <a:rPr lang="en-SG" sz="2000" dirty="0"/>
              <a:t> was converted to 0/1, while </a:t>
            </a:r>
            <a:r>
              <a:rPr lang="en-SG" sz="2000" b="1" dirty="0" err="1"/>
              <a:t>smoking_history</a:t>
            </a:r>
            <a:r>
              <a:rPr lang="en-SG" sz="2000" b="1" dirty="0"/>
              <a:t> </a:t>
            </a:r>
            <a:r>
              <a:rPr lang="en-SG" sz="2000" dirty="0"/>
              <a:t>was mapped to numerical categories from 0 to 5. </a:t>
            </a:r>
          </a:p>
        </p:txBody>
      </p:sp>
    </p:spTree>
    <p:extLst>
      <p:ext uri="{BB962C8B-B14F-4D97-AF65-F5344CB8AC3E}">
        <p14:creationId xmlns:p14="http://schemas.microsoft.com/office/powerpoint/2010/main" val="1200235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EB773-BDD6-5920-9B32-EFF158AA3CCD}"/>
              </a:ext>
            </a:extLst>
          </p:cNvPr>
          <p:cNvSpPr>
            <a:spLocks noGrp="1"/>
          </p:cNvSpPr>
          <p:nvPr>
            <p:ph type="title"/>
          </p:nvPr>
        </p:nvSpPr>
        <p:spPr/>
        <p:txBody>
          <a:bodyPr/>
          <a:lstStyle/>
          <a:p>
            <a:r>
              <a:rPr lang="en-SG" dirty="0"/>
              <a:t>Exploratory Data analysis (EDA)</a:t>
            </a:r>
          </a:p>
        </p:txBody>
      </p:sp>
      <p:sp>
        <p:nvSpPr>
          <p:cNvPr id="4" name="Date Placeholder 3">
            <a:extLst>
              <a:ext uri="{FF2B5EF4-FFF2-40B4-BE49-F238E27FC236}">
                <a16:creationId xmlns:a16="http://schemas.microsoft.com/office/drawing/2014/main" id="{2A0608DA-4FB6-E2D2-3DFE-0F2F9A2441FE}"/>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D478567A-BFD8-FD5D-E593-E1A65483FFD5}"/>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0E5A6FA7-30F9-418D-B49E-895ABCDED66F}"/>
              </a:ext>
            </a:extLst>
          </p:cNvPr>
          <p:cNvSpPr>
            <a:spLocks noGrp="1"/>
          </p:cNvSpPr>
          <p:nvPr>
            <p:ph type="sldNum" sz="quarter" idx="12"/>
          </p:nvPr>
        </p:nvSpPr>
        <p:spPr/>
        <p:txBody>
          <a:bodyPr/>
          <a:lstStyle/>
          <a:p>
            <a:fld id="{4FAB73BC-B049-4115-A692-8D63A059BFB8}" type="slidenum">
              <a:rPr lang="en-US" smtClean="0"/>
              <a:t>6</a:t>
            </a:fld>
            <a:endParaRPr lang="en-US" dirty="0"/>
          </a:p>
        </p:txBody>
      </p:sp>
      <p:pic>
        <p:nvPicPr>
          <p:cNvPr id="7" name="Picture 6">
            <a:extLst>
              <a:ext uri="{FF2B5EF4-FFF2-40B4-BE49-F238E27FC236}">
                <a16:creationId xmlns:a16="http://schemas.microsoft.com/office/drawing/2014/main" id="{85447C63-68E5-308D-F6AF-E612717DF598}"/>
              </a:ext>
            </a:extLst>
          </p:cNvPr>
          <p:cNvPicPr>
            <a:picLocks noChangeAspect="1"/>
          </p:cNvPicPr>
          <p:nvPr/>
        </p:nvPicPr>
        <p:blipFill>
          <a:blip r:embed="rId2"/>
          <a:stretch>
            <a:fillRect/>
          </a:stretch>
        </p:blipFill>
        <p:spPr>
          <a:xfrm>
            <a:off x="481824" y="2040114"/>
            <a:ext cx="3503884" cy="1751942"/>
          </a:xfrm>
          <a:prstGeom prst="rect">
            <a:avLst/>
          </a:prstGeom>
        </p:spPr>
      </p:pic>
      <p:pic>
        <p:nvPicPr>
          <p:cNvPr id="9" name="Picture 8">
            <a:extLst>
              <a:ext uri="{FF2B5EF4-FFF2-40B4-BE49-F238E27FC236}">
                <a16:creationId xmlns:a16="http://schemas.microsoft.com/office/drawing/2014/main" id="{B0A9CEE7-9FD0-95A7-9246-333832F49855}"/>
              </a:ext>
            </a:extLst>
          </p:cNvPr>
          <p:cNvPicPr>
            <a:picLocks noChangeAspect="1"/>
          </p:cNvPicPr>
          <p:nvPr/>
        </p:nvPicPr>
        <p:blipFill>
          <a:blip r:embed="rId3"/>
          <a:stretch>
            <a:fillRect/>
          </a:stretch>
        </p:blipFill>
        <p:spPr>
          <a:xfrm>
            <a:off x="9216511" y="4123265"/>
            <a:ext cx="2926085" cy="2194564"/>
          </a:xfrm>
          <a:prstGeom prst="rect">
            <a:avLst/>
          </a:prstGeom>
        </p:spPr>
      </p:pic>
      <p:pic>
        <p:nvPicPr>
          <p:cNvPr id="11" name="Picture 10">
            <a:extLst>
              <a:ext uri="{FF2B5EF4-FFF2-40B4-BE49-F238E27FC236}">
                <a16:creationId xmlns:a16="http://schemas.microsoft.com/office/drawing/2014/main" id="{61460904-82AF-EAA3-EC60-7A060BD8D416}"/>
              </a:ext>
            </a:extLst>
          </p:cNvPr>
          <p:cNvPicPr>
            <a:picLocks noChangeAspect="1"/>
          </p:cNvPicPr>
          <p:nvPr/>
        </p:nvPicPr>
        <p:blipFill>
          <a:blip r:embed="rId4"/>
          <a:stretch>
            <a:fillRect/>
          </a:stretch>
        </p:blipFill>
        <p:spPr>
          <a:xfrm>
            <a:off x="7555021" y="1775826"/>
            <a:ext cx="4389128" cy="2194564"/>
          </a:xfrm>
          <a:prstGeom prst="rect">
            <a:avLst/>
          </a:prstGeom>
        </p:spPr>
      </p:pic>
      <p:pic>
        <p:nvPicPr>
          <p:cNvPr id="13" name="Picture 12">
            <a:extLst>
              <a:ext uri="{FF2B5EF4-FFF2-40B4-BE49-F238E27FC236}">
                <a16:creationId xmlns:a16="http://schemas.microsoft.com/office/drawing/2014/main" id="{12FFC77F-6A9A-9055-B814-DC98642F1C52}"/>
              </a:ext>
            </a:extLst>
          </p:cNvPr>
          <p:cNvPicPr>
            <a:picLocks noChangeAspect="1"/>
          </p:cNvPicPr>
          <p:nvPr/>
        </p:nvPicPr>
        <p:blipFill>
          <a:blip r:embed="rId5"/>
          <a:stretch>
            <a:fillRect/>
          </a:stretch>
        </p:blipFill>
        <p:spPr>
          <a:xfrm>
            <a:off x="216692" y="4189126"/>
            <a:ext cx="3769016" cy="1884508"/>
          </a:xfrm>
          <a:prstGeom prst="rect">
            <a:avLst/>
          </a:prstGeom>
        </p:spPr>
      </p:pic>
      <p:pic>
        <p:nvPicPr>
          <p:cNvPr id="15" name="Picture 14">
            <a:extLst>
              <a:ext uri="{FF2B5EF4-FFF2-40B4-BE49-F238E27FC236}">
                <a16:creationId xmlns:a16="http://schemas.microsoft.com/office/drawing/2014/main" id="{DDD5C8E3-FB54-709C-C268-DF9111723C83}"/>
              </a:ext>
            </a:extLst>
          </p:cNvPr>
          <p:cNvPicPr>
            <a:picLocks noChangeAspect="1"/>
          </p:cNvPicPr>
          <p:nvPr/>
        </p:nvPicPr>
        <p:blipFill>
          <a:blip r:embed="rId6"/>
          <a:stretch>
            <a:fillRect/>
          </a:stretch>
        </p:blipFill>
        <p:spPr>
          <a:xfrm>
            <a:off x="3746179" y="4034098"/>
            <a:ext cx="2926085" cy="2194564"/>
          </a:xfrm>
          <a:prstGeom prst="rect">
            <a:avLst/>
          </a:prstGeom>
        </p:spPr>
      </p:pic>
      <p:pic>
        <p:nvPicPr>
          <p:cNvPr id="17" name="Picture 16">
            <a:extLst>
              <a:ext uri="{FF2B5EF4-FFF2-40B4-BE49-F238E27FC236}">
                <a16:creationId xmlns:a16="http://schemas.microsoft.com/office/drawing/2014/main" id="{44B68366-5CB4-B715-90A5-F4FC338EFDD4}"/>
              </a:ext>
            </a:extLst>
          </p:cNvPr>
          <p:cNvPicPr>
            <a:picLocks noChangeAspect="1"/>
          </p:cNvPicPr>
          <p:nvPr/>
        </p:nvPicPr>
        <p:blipFill>
          <a:blip r:embed="rId7"/>
          <a:stretch>
            <a:fillRect/>
          </a:stretch>
        </p:blipFill>
        <p:spPr>
          <a:xfrm>
            <a:off x="6441153" y="4047904"/>
            <a:ext cx="2926084" cy="2194563"/>
          </a:xfrm>
          <a:prstGeom prst="rect">
            <a:avLst/>
          </a:prstGeom>
        </p:spPr>
      </p:pic>
      <p:pic>
        <p:nvPicPr>
          <p:cNvPr id="19" name="Picture 18">
            <a:extLst>
              <a:ext uri="{FF2B5EF4-FFF2-40B4-BE49-F238E27FC236}">
                <a16:creationId xmlns:a16="http://schemas.microsoft.com/office/drawing/2014/main" id="{5320D530-A0DD-1AE4-1D58-A0A6E9B9650D}"/>
              </a:ext>
            </a:extLst>
          </p:cNvPr>
          <p:cNvPicPr>
            <a:picLocks noChangeAspect="1"/>
          </p:cNvPicPr>
          <p:nvPr/>
        </p:nvPicPr>
        <p:blipFill>
          <a:blip r:embed="rId8"/>
          <a:stretch>
            <a:fillRect/>
          </a:stretch>
        </p:blipFill>
        <p:spPr>
          <a:xfrm>
            <a:off x="3836613" y="1997539"/>
            <a:ext cx="3790674" cy="1895337"/>
          </a:xfrm>
          <a:prstGeom prst="rect">
            <a:avLst/>
          </a:prstGeom>
        </p:spPr>
      </p:pic>
    </p:spTree>
    <p:extLst>
      <p:ext uri="{BB962C8B-B14F-4D97-AF65-F5344CB8AC3E}">
        <p14:creationId xmlns:p14="http://schemas.microsoft.com/office/powerpoint/2010/main" val="2395519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54E01-2C2D-E73E-4270-E6E1E9713985}"/>
              </a:ext>
            </a:extLst>
          </p:cNvPr>
          <p:cNvSpPr>
            <a:spLocks noGrp="1"/>
          </p:cNvSpPr>
          <p:nvPr>
            <p:ph type="title"/>
          </p:nvPr>
        </p:nvSpPr>
        <p:spPr/>
        <p:txBody>
          <a:bodyPr/>
          <a:lstStyle/>
          <a:p>
            <a:r>
              <a:rPr lang="en-SG" dirty="0"/>
              <a:t>Train-Test Split</a:t>
            </a:r>
          </a:p>
        </p:txBody>
      </p:sp>
      <p:sp>
        <p:nvSpPr>
          <p:cNvPr id="4" name="Date Placeholder 3">
            <a:extLst>
              <a:ext uri="{FF2B5EF4-FFF2-40B4-BE49-F238E27FC236}">
                <a16:creationId xmlns:a16="http://schemas.microsoft.com/office/drawing/2014/main" id="{344CDB9F-0FEC-9843-9BB8-EC76C643BE19}"/>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99578455-A284-4844-B262-0FED853CBD5B}"/>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3A486B6B-7A43-A742-51C5-599C8743C3C3}"/>
              </a:ext>
            </a:extLst>
          </p:cNvPr>
          <p:cNvSpPr>
            <a:spLocks noGrp="1"/>
          </p:cNvSpPr>
          <p:nvPr>
            <p:ph type="sldNum" sz="quarter" idx="12"/>
          </p:nvPr>
        </p:nvSpPr>
        <p:spPr/>
        <p:txBody>
          <a:bodyPr/>
          <a:lstStyle/>
          <a:p>
            <a:fld id="{4FAB73BC-B049-4115-A692-8D63A059BFB8}" type="slidenum">
              <a:rPr lang="en-US" smtClean="0"/>
              <a:t>7</a:t>
            </a:fld>
            <a:endParaRPr lang="en-US" dirty="0"/>
          </a:p>
        </p:txBody>
      </p:sp>
      <p:pic>
        <p:nvPicPr>
          <p:cNvPr id="8" name="Picture 7">
            <a:extLst>
              <a:ext uri="{FF2B5EF4-FFF2-40B4-BE49-F238E27FC236}">
                <a16:creationId xmlns:a16="http://schemas.microsoft.com/office/drawing/2014/main" id="{431C8B99-EF6F-0375-51C7-C2ECBCEB231B}"/>
              </a:ext>
            </a:extLst>
          </p:cNvPr>
          <p:cNvPicPr>
            <a:picLocks noChangeAspect="1"/>
          </p:cNvPicPr>
          <p:nvPr/>
        </p:nvPicPr>
        <p:blipFill>
          <a:blip r:embed="rId2"/>
          <a:stretch>
            <a:fillRect/>
          </a:stretch>
        </p:blipFill>
        <p:spPr>
          <a:xfrm>
            <a:off x="1325010" y="2576563"/>
            <a:ext cx="9419190" cy="1704874"/>
          </a:xfrm>
          <a:prstGeom prst="rect">
            <a:avLst/>
          </a:prstGeom>
        </p:spPr>
      </p:pic>
      <p:sp>
        <p:nvSpPr>
          <p:cNvPr id="10" name="TextBox 9">
            <a:extLst>
              <a:ext uri="{FF2B5EF4-FFF2-40B4-BE49-F238E27FC236}">
                <a16:creationId xmlns:a16="http://schemas.microsoft.com/office/drawing/2014/main" id="{A8B3B4C0-15A4-A2B4-5B1C-4693EDC598E3}"/>
              </a:ext>
            </a:extLst>
          </p:cNvPr>
          <p:cNvSpPr txBox="1"/>
          <p:nvPr/>
        </p:nvSpPr>
        <p:spPr>
          <a:xfrm>
            <a:off x="892667" y="4868239"/>
            <a:ext cx="10714117" cy="707886"/>
          </a:xfrm>
          <a:prstGeom prst="rect">
            <a:avLst/>
          </a:prstGeom>
          <a:noFill/>
        </p:spPr>
        <p:txBody>
          <a:bodyPr wrap="square" rtlCol="0">
            <a:spAutoFit/>
          </a:bodyPr>
          <a:lstStyle/>
          <a:p>
            <a:r>
              <a:rPr lang="en-SG" sz="2000" dirty="0"/>
              <a:t>Divided the dataset into 80% training data and 20% testing data. Stratified sampling was used to maintain a similar diabetes class distribution in both datasets. </a:t>
            </a:r>
          </a:p>
        </p:txBody>
      </p:sp>
    </p:spTree>
    <p:extLst>
      <p:ext uri="{BB962C8B-B14F-4D97-AF65-F5344CB8AC3E}">
        <p14:creationId xmlns:p14="http://schemas.microsoft.com/office/powerpoint/2010/main" val="941881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482EC-90FF-1248-A84D-C13A00AFD3C0}"/>
              </a:ext>
            </a:extLst>
          </p:cNvPr>
          <p:cNvSpPr>
            <a:spLocks noGrp="1"/>
          </p:cNvSpPr>
          <p:nvPr>
            <p:ph type="title"/>
          </p:nvPr>
        </p:nvSpPr>
        <p:spPr/>
        <p:txBody>
          <a:bodyPr/>
          <a:lstStyle/>
          <a:p>
            <a:r>
              <a:rPr lang="en-SG" dirty="0"/>
              <a:t>Class distribution analysis</a:t>
            </a:r>
          </a:p>
        </p:txBody>
      </p:sp>
      <p:sp>
        <p:nvSpPr>
          <p:cNvPr id="4" name="Date Placeholder 3">
            <a:extLst>
              <a:ext uri="{FF2B5EF4-FFF2-40B4-BE49-F238E27FC236}">
                <a16:creationId xmlns:a16="http://schemas.microsoft.com/office/drawing/2014/main" id="{DA2626FB-A23E-A5E6-B4ED-B8D84904A46F}"/>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466635DA-535B-D1FB-675A-4855CCEE0EB9}"/>
              </a:ext>
            </a:extLst>
          </p:cNvPr>
          <p:cNvSpPr>
            <a:spLocks noGrp="1"/>
          </p:cNvSpPr>
          <p:nvPr>
            <p:ph type="ftr" sz="quarter" idx="11"/>
          </p:nvPr>
        </p:nvSpPr>
        <p:spPr/>
        <p:txBody>
          <a:bodyPr/>
          <a:lstStyle/>
          <a:p>
            <a:r>
              <a:rPr lang="en-US" dirty="0"/>
              <a:t>SDAAI/Final Presentation/Capstone Project 2021</a:t>
            </a:r>
          </a:p>
        </p:txBody>
      </p:sp>
      <p:sp>
        <p:nvSpPr>
          <p:cNvPr id="6" name="Slide Number Placeholder 5">
            <a:extLst>
              <a:ext uri="{FF2B5EF4-FFF2-40B4-BE49-F238E27FC236}">
                <a16:creationId xmlns:a16="http://schemas.microsoft.com/office/drawing/2014/main" id="{5199F0E5-363E-A0BD-2529-218F55FABD35}"/>
              </a:ext>
            </a:extLst>
          </p:cNvPr>
          <p:cNvSpPr>
            <a:spLocks noGrp="1"/>
          </p:cNvSpPr>
          <p:nvPr>
            <p:ph type="sldNum" sz="quarter" idx="12"/>
          </p:nvPr>
        </p:nvSpPr>
        <p:spPr/>
        <p:txBody>
          <a:bodyPr/>
          <a:lstStyle/>
          <a:p>
            <a:fld id="{4FAB73BC-B049-4115-A692-8D63A059BFB8}" type="slidenum">
              <a:rPr lang="en-US" smtClean="0"/>
              <a:t>8</a:t>
            </a:fld>
            <a:endParaRPr lang="en-US" dirty="0"/>
          </a:p>
        </p:txBody>
      </p:sp>
      <p:pic>
        <p:nvPicPr>
          <p:cNvPr id="8" name="Picture 7">
            <a:extLst>
              <a:ext uri="{FF2B5EF4-FFF2-40B4-BE49-F238E27FC236}">
                <a16:creationId xmlns:a16="http://schemas.microsoft.com/office/drawing/2014/main" id="{7F484A5D-84C6-4364-EEC1-B2BF997AEAC6}"/>
              </a:ext>
            </a:extLst>
          </p:cNvPr>
          <p:cNvPicPr>
            <a:picLocks noChangeAspect="1"/>
          </p:cNvPicPr>
          <p:nvPr/>
        </p:nvPicPr>
        <p:blipFill>
          <a:blip r:embed="rId2"/>
          <a:stretch>
            <a:fillRect/>
          </a:stretch>
        </p:blipFill>
        <p:spPr>
          <a:xfrm>
            <a:off x="1024128" y="2371269"/>
            <a:ext cx="6369321" cy="1817157"/>
          </a:xfrm>
          <a:prstGeom prst="rect">
            <a:avLst/>
          </a:prstGeom>
        </p:spPr>
      </p:pic>
      <p:sp>
        <p:nvSpPr>
          <p:cNvPr id="10" name="TextBox 9">
            <a:extLst>
              <a:ext uri="{FF2B5EF4-FFF2-40B4-BE49-F238E27FC236}">
                <a16:creationId xmlns:a16="http://schemas.microsoft.com/office/drawing/2014/main" id="{5F4AB537-F83E-9BE6-6E44-2616F2C4856F}"/>
              </a:ext>
            </a:extLst>
          </p:cNvPr>
          <p:cNvSpPr txBox="1"/>
          <p:nvPr/>
        </p:nvSpPr>
        <p:spPr>
          <a:xfrm>
            <a:off x="892667" y="4868239"/>
            <a:ext cx="10714117" cy="707886"/>
          </a:xfrm>
          <a:prstGeom prst="rect">
            <a:avLst/>
          </a:prstGeom>
          <a:noFill/>
        </p:spPr>
        <p:txBody>
          <a:bodyPr wrap="square" rtlCol="0">
            <a:spAutoFit/>
          </a:bodyPr>
          <a:lstStyle/>
          <a:p>
            <a:r>
              <a:rPr lang="en-SG" sz="2000" dirty="0"/>
              <a:t>Examined the distribution of diabetes classes in the training data before resampling to identify class imbalanced. </a:t>
            </a:r>
          </a:p>
        </p:txBody>
      </p:sp>
      <p:pic>
        <p:nvPicPr>
          <p:cNvPr id="7" name="Picture 6">
            <a:extLst>
              <a:ext uri="{FF2B5EF4-FFF2-40B4-BE49-F238E27FC236}">
                <a16:creationId xmlns:a16="http://schemas.microsoft.com/office/drawing/2014/main" id="{B7DEBE63-2210-B499-65A9-0EC0A067CB8B}"/>
              </a:ext>
            </a:extLst>
          </p:cNvPr>
          <p:cNvPicPr>
            <a:picLocks noChangeAspect="1"/>
          </p:cNvPicPr>
          <p:nvPr/>
        </p:nvPicPr>
        <p:blipFill>
          <a:blip r:embed="rId3"/>
          <a:stretch>
            <a:fillRect/>
          </a:stretch>
        </p:blipFill>
        <p:spPr>
          <a:xfrm>
            <a:off x="8008636" y="1957770"/>
            <a:ext cx="3525537" cy="2644153"/>
          </a:xfrm>
          <a:prstGeom prst="rect">
            <a:avLst/>
          </a:prstGeom>
        </p:spPr>
      </p:pic>
    </p:spTree>
    <p:extLst>
      <p:ext uri="{BB962C8B-B14F-4D97-AF65-F5344CB8AC3E}">
        <p14:creationId xmlns:p14="http://schemas.microsoft.com/office/powerpoint/2010/main" val="536292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8519C-5994-8E3A-2E91-65316DDAAFA1}"/>
              </a:ext>
            </a:extLst>
          </p:cNvPr>
          <p:cNvSpPr>
            <a:spLocks noGrp="1"/>
          </p:cNvSpPr>
          <p:nvPr>
            <p:ph type="title"/>
          </p:nvPr>
        </p:nvSpPr>
        <p:spPr/>
        <p:txBody>
          <a:bodyPr/>
          <a:lstStyle/>
          <a:p>
            <a:r>
              <a:rPr lang="en-SG" dirty="0"/>
              <a:t>Class imbalance handling</a:t>
            </a:r>
          </a:p>
        </p:txBody>
      </p:sp>
      <p:sp>
        <p:nvSpPr>
          <p:cNvPr id="4" name="Date Placeholder 3">
            <a:extLst>
              <a:ext uri="{FF2B5EF4-FFF2-40B4-BE49-F238E27FC236}">
                <a16:creationId xmlns:a16="http://schemas.microsoft.com/office/drawing/2014/main" id="{D1406C8A-4B52-8471-CA95-4A2632FBD13E}"/>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529614EC-8BD4-8ADD-F6F5-C2543EC15037}"/>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32C76E71-A79E-5173-333A-71349AB2239E}"/>
              </a:ext>
            </a:extLst>
          </p:cNvPr>
          <p:cNvSpPr>
            <a:spLocks noGrp="1"/>
          </p:cNvSpPr>
          <p:nvPr>
            <p:ph type="sldNum" sz="quarter" idx="12"/>
          </p:nvPr>
        </p:nvSpPr>
        <p:spPr/>
        <p:txBody>
          <a:bodyPr/>
          <a:lstStyle/>
          <a:p>
            <a:fld id="{4FAB73BC-B049-4115-A692-8D63A059BFB8}" type="slidenum">
              <a:rPr lang="en-US" smtClean="0"/>
              <a:t>9</a:t>
            </a:fld>
            <a:endParaRPr lang="en-US" dirty="0"/>
          </a:p>
        </p:txBody>
      </p:sp>
      <p:pic>
        <p:nvPicPr>
          <p:cNvPr id="8" name="Picture 7">
            <a:extLst>
              <a:ext uri="{FF2B5EF4-FFF2-40B4-BE49-F238E27FC236}">
                <a16:creationId xmlns:a16="http://schemas.microsoft.com/office/drawing/2014/main" id="{17DED56E-1A48-7623-DBD1-E1CC6B8F9358}"/>
              </a:ext>
            </a:extLst>
          </p:cNvPr>
          <p:cNvPicPr>
            <a:picLocks noChangeAspect="1"/>
          </p:cNvPicPr>
          <p:nvPr/>
        </p:nvPicPr>
        <p:blipFill>
          <a:blip r:embed="rId2"/>
          <a:stretch>
            <a:fillRect/>
          </a:stretch>
        </p:blipFill>
        <p:spPr>
          <a:xfrm>
            <a:off x="1199905" y="1989761"/>
            <a:ext cx="6196210" cy="2391520"/>
          </a:xfrm>
          <a:prstGeom prst="rect">
            <a:avLst/>
          </a:prstGeom>
        </p:spPr>
      </p:pic>
      <p:sp>
        <p:nvSpPr>
          <p:cNvPr id="10" name="TextBox 9">
            <a:extLst>
              <a:ext uri="{FF2B5EF4-FFF2-40B4-BE49-F238E27FC236}">
                <a16:creationId xmlns:a16="http://schemas.microsoft.com/office/drawing/2014/main" id="{8F92B3E1-6BCF-72A0-1492-D8E9389C1BE7}"/>
              </a:ext>
            </a:extLst>
          </p:cNvPr>
          <p:cNvSpPr txBox="1"/>
          <p:nvPr/>
        </p:nvSpPr>
        <p:spPr>
          <a:xfrm>
            <a:off x="892667" y="4868239"/>
            <a:ext cx="10714117" cy="707886"/>
          </a:xfrm>
          <a:prstGeom prst="rect">
            <a:avLst/>
          </a:prstGeom>
          <a:noFill/>
        </p:spPr>
        <p:txBody>
          <a:bodyPr wrap="square" rtlCol="0">
            <a:spAutoFit/>
          </a:bodyPr>
          <a:lstStyle/>
          <a:p>
            <a:r>
              <a:rPr lang="en-SG" sz="2000" dirty="0"/>
              <a:t>Applied SMOTEENN to the training data. This combines synthetic oversampling with cleaning of potentially noisy or ambiguous observations to produce a more balanced training dataset. </a:t>
            </a:r>
          </a:p>
        </p:txBody>
      </p:sp>
      <p:pic>
        <p:nvPicPr>
          <p:cNvPr id="7" name="Picture 6">
            <a:extLst>
              <a:ext uri="{FF2B5EF4-FFF2-40B4-BE49-F238E27FC236}">
                <a16:creationId xmlns:a16="http://schemas.microsoft.com/office/drawing/2014/main" id="{80DAEFE5-76CE-1387-6973-6C9667F3FA82}"/>
              </a:ext>
            </a:extLst>
          </p:cNvPr>
          <p:cNvPicPr>
            <a:picLocks noChangeAspect="1"/>
          </p:cNvPicPr>
          <p:nvPr/>
        </p:nvPicPr>
        <p:blipFill>
          <a:blip r:embed="rId3"/>
          <a:stretch>
            <a:fillRect/>
          </a:stretch>
        </p:blipFill>
        <p:spPr>
          <a:xfrm>
            <a:off x="7878007" y="1910980"/>
            <a:ext cx="3525537" cy="2644153"/>
          </a:xfrm>
          <a:prstGeom prst="rect">
            <a:avLst/>
          </a:prstGeom>
        </p:spPr>
      </p:pic>
    </p:spTree>
    <p:extLst>
      <p:ext uri="{BB962C8B-B14F-4D97-AF65-F5344CB8AC3E}">
        <p14:creationId xmlns:p14="http://schemas.microsoft.com/office/powerpoint/2010/main" val="4150461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68A5C-626D-77C0-3B18-C24B3DB3D252}"/>
              </a:ext>
            </a:extLst>
          </p:cNvPr>
          <p:cNvSpPr>
            <a:spLocks noGrp="1"/>
          </p:cNvSpPr>
          <p:nvPr>
            <p:ph type="title"/>
          </p:nvPr>
        </p:nvSpPr>
        <p:spPr/>
        <p:txBody>
          <a:bodyPr/>
          <a:lstStyle/>
          <a:p>
            <a:r>
              <a:rPr lang="en-SG" dirty="0"/>
              <a:t>Feature standardization</a:t>
            </a:r>
          </a:p>
        </p:txBody>
      </p:sp>
      <p:sp>
        <p:nvSpPr>
          <p:cNvPr id="4" name="Date Placeholder 3">
            <a:extLst>
              <a:ext uri="{FF2B5EF4-FFF2-40B4-BE49-F238E27FC236}">
                <a16:creationId xmlns:a16="http://schemas.microsoft.com/office/drawing/2014/main" id="{FA800500-FF5F-12AE-1C7F-788CA733A506}"/>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CC3CC9BC-ED1D-DAF9-DED7-016514AB4C5B}"/>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A4EFD4B8-F00A-3F77-A51A-FAF738B8F4C1}"/>
              </a:ext>
            </a:extLst>
          </p:cNvPr>
          <p:cNvSpPr>
            <a:spLocks noGrp="1"/>
          </p:cNvSpPr>
          <p:nvPr>
            <p:ph type="sldNum" sz="quarter" idx="12"/>
          </p:nvPr>
        </p:nvSpPr>
        <p:spPr/>
        <p:txBody>
          <a:bodyPr/>
          <a:lstStyle/>
          <a:p>
            <a:fld id="{4FAB73BC-B049-4115-A692-8D63A059BFB8}" type="slidenum">
              <a:rPr lang="en-US" smtClean="0"/>
              <a:t>10</a:t>
            </a:fld>
            <a:endParaRPr lang="en-US" dirty="0"/>
          </a:p>
        </p:txBody>
      </p:sp>
      <p:pic>
        <p:nvPicPr>
          <p:cNvPr id="10" name="Picture 9">
            <a:extLst>
              <a:ext uri="{FF2B5EF4-FFF2-40B4-BE49-F238E27FC236}">
                <a16:creationId xmlns:a16="http://schemas.microsoft.com/office/drawing/2014/main" id="{5C48AF60-1A04-9676-AEB2-E10A469EFB03}"/>
              </a:ext>
            </a:extLst>
          </p:cNvPr>
          <p:cNvPicPr>
            <a:picLocks noChangeAspect="1"/>
          </p:cNvPicPr>
          <p:nvPr/>
        </p:nvPicPr>
        <p:blipFill>
          <a:blip r:embed="rId2"/>
          <a:stretch>
            <a:fillRect/>
          </a:stretch>
        </p:blipFill>
        <p:spPr>
          <a:xfrm>
            <a:off x="666279" y="3097501"/>
            <a:ext cx="10859441" cy="662997"/>
          </a:xfrm>
          <a:prstGeom prst="rect">
            <a:avLst/>
          </a:prstGeom>
        </p:spPr>
      </p:pic>
      <p:sp>
        <p:nvSpPr>
          <p:cNvPr id="12" name="TextBox 11">
            <a:extLst>
              <a:ext uri="{FF2B5EF4-FFF2-40B4-BE49-F238E27FC236}">
                <a16:creationId xmlns:a16="http://schemas.microsoft.com/office/drawing/2014/main" id="{CCFC3992-83E6-D6E9-9BFE-49A7F5CEA831}"/>
              </a:ext>
            </a:extLst>
          </p:cNvPr>
          <p:cNvSpPr txBox="1"/>
          <p:nvPr/>
        </p:nvSpPr>
        <p:spPr>
          <a:xfrm>
            <a:off x="892667" y="4868239"/>
            <a:ext cx="10714117" cy="707886"/>
          </a:xfrm>
          <a:prstGeom prst="rect">
            <a:avLst/>
          </a:prstGeom>
          <a:noFill/>
        </p:spPr>
        <p:txBody>
          <a:bodyPr wrap="square" rtlCol="0">
            <a:spAutoFit/>
          </a:bodyPr>
          <a:lstStyle/>
          <a:p>
            <a:r>
              <a:rPr lang="en-SG" sz="2000" dirty="0"/>
              <a:t>Applied </a:t>
            </a:r>
            <a:r>
              <a:rPr lang="en-SG" sz="2000" b="1" dirty="0" err="1"/>
              <a:t>StandardScaler</a:t>
            </a:r>
            <a:r>
              <a:rPr lang="en-SG" sz="2000" dirty="0"/>
              <a:t> to numerical variables – age, BMI, HbA1c level, and blood glucose level. The scaler was fitted only on the resampled training data and then applied to the test data. </a:t>
            </a:r>
          </a:p>
        </p:txBody>
      </p:sp>
    </p:spTree>
    <p:extLst>
      <p:ext uri="{BB962C8B-B14F-4D97-AF65-F5344CB8AC3E}">
        <p14:creationId xmlns:p14="http://schemas.microsoft.com/office/powerpoint/2010/main" val="50623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821AA-9C28-4D66-3D31-471C40FC61C1}"/>
              </a:ext>
            </a:extLst>
          </p:cNvPr>
          <p:cNvSpPr>
            <a:spLocks noGrp="1"/>
          </p:cNvSpPr>
          <p:nvPr>
            <p:ph type="title"/>
          </p:nvPr>
        </p:nvSpPr>
        <p:spPr/>
        <p:txBody>
          <a:bodyPr/>
          <a:lstStyle/>
          <a:p>
            <a:r>
              <a:rPr lang="en-SG" dirty="0"/>
              <a:t>Model Training &amp; Hyperparameter Tuning</a:t>
            </a:r>
          </a:p>
        </p:txBody>
      </p:sp>
      <p:sp>
        <p:nvSpPr>
          <p:cNvPr id="4" name="Date Placeholder 3">
            <a:extLst>
              <a:ext uri="{FF2B5EF4-FFF2-40B4-BE49-F238E27FC236}">
                <a16:creationId xmlns:a16="http://schemas.microsoft.com/office/drawing/2014/main" id="{7A310DBB-DC7D-22A7-E521-447BE44A66A8}"/>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0C3A2736-F4CC-34F3-03CB-EED7B4A4BBEC}"/>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1D12A102-937E-99F7-E74D-10A4448AC856}"/>
              </a:ext>
            </a:extLst>
          </p:cNvPr>
          <p:cNvSpPr>
            <a:spLocks noGrp="1"/>
          </p:cNvSpPr>
          <p:nvPr>
            <p:ph type="sldNum" sz="quarter" idx="12"/>
          </p:nvPr>
        </p:nvSpPr>
        <p:spPr/>
        <p:txBody>
          <a:bodyPr/>
          <a:lstStyle/>
          <a:p>
            <a:fld id="{4FAB73BC-B049-4115-A692-8D63A059BFB8}" type="slidenum">
              <a:rPr lang="en-US" smtClean="0"/>
              <a:t>11</a:t>
            </a:fld>
            <a:endParaRPr lang="en-US" dirty="0"/>
          </a:p>
        </p:txBody>
      </p:sp>
      <p:pic>
        <p:nvPicPr>
          <p:cNvPr id="8" name="Picture 7">
            <a:extLst>
              <a:ext uri="{FF2B5EF4-FFF2-40B4-BE49-F238E27FC236}">
                <a16:creationId xmlns:a16="http://schemas.microsoft.com/office/drawing/2014/main" id="{1407631F-64A4-FAC0-4BB8-149F78CADEAF}"/>
              </a:ext>
            </a:extLst>
          </p:cNvPr>
          <p:cNvPicPr>
            <a:picLocks noChangeAspect="1"/>
          </p:cNvPicPr>
          <p:nvPr/>
        </p:nvPicPr>
        <p:blipFill>
          <a:blip r:embed="rId2"/>
          <a:stretch>
            <a:fillRect/>
          </a:stretch>
        </p:blipFill>
        <p:spPr>
          <a:xfrm>
            <a:off x="1024128" y="2084832"/>
            <a:ext cx="4562458" cy="2084832"/>
          </a:xfrm>
          <a:prstGeom prst="rect">
            <a:avLst/>
          </a:prstGeom>
        </p:spPr>
      </p:pic>
      <p:pic>
        <p:nvPicPr>
          <p:cNvPr id="10" name="Picture 9">
            <a:extLst>
              <a:ext uri="{FF2B5EF4-FFF2-40B4-BE49-F238E27FC236}">
                <a16:creationId xmlns:a16="http://schemas.microsoft.com/office/drawing/2014/main" id="{2380031B-E7A1-E63B-A8FE-00A22D06058A}"/>
              </a:ext>
            </a:extLst>
          </p:cNvPr>
          <p:cNvPicPr>
            <a:picLocks noChangeAspect="1"/>
          </p:cNvPicPr>
          <p:nvPr/>
        </p:nvPicPr>
        <p:blipFill>
          <a:blip r:embed="rId3"/>
          <a:stretch>
            <a:fillRect/>
          </a:stretch>
        </p:blipFill>
        <p:spPr>
          <a:xfrm>
            <a:off x="5969567" y="2084832"/>
            <a:ext cx="4993576" cy="3255264"/>
          </a:xfrm>
          <a:prstGeom prst="rect">
            <a:avLst/>
          </a:prstGeom>
        </p:spPr>
      </p:pic>
      <p:sp>
        <p:nvSpPr>
          <p:cNvPr id="12" name="TextBox 11">
            <a:extLst>
              <a:ext uri="{FF2B5EF4-FFF2-40B4-BE49-F238E27FC236}">
                <a16:creationId xmlns:a16="http://schemas.microsoft.com/office/drawing/2014/main" id="{97F7FFB8-8389-A8C7-452F-166B16F48D4C}"/>
              </a:ext>
            </a:extLst>
          </p:cNvPr>
          <p:cNvSpPr txBox="1"/>
          <p:nvPr/>
        </p:nvSpPr>
        <p:spPr>
          <a:xfrm>
            <a:off x="707136" y="5455041"/>
            <a:ext cx="11253216" cy="1015663"/>
          </a:xfrm>
          <a:prstGeom prst="rect">
            <a:avLst/>
          </a:prstGeom>
          <a:noFill/>
        </p:spPr>
        <p:txBody>
          <a:bodyPr wrap="square" rtlCol="0">
            <a:spAutoFit/>
          </a:bodyPr>
          <a:lstStyle/>
          <a:p>
            <a:r>
              <a:rPr lang="en-SG" sz="2000" dirty="0"/>
              <a:t>Trained three classification models: </a:t>
            </a:r>
            <a:r>
              <a:rPr lang="en-SG" sz="2000" b="1" dirty="0"/>
              <a:t>Random Forest, Logistic Regression, and Decision Tree</a:t>
            </a:r>
            <a:r>
              <a:rPr lang="en-SG" sz="2000" dirty="0"/>
              <a:t>. </a:t>
            </a:r>
            <a:r>
              <a:rPr lang="en-SG" sz="2000" b="1" dirty="0" err="1"/>
              <a:t>GridSearchCV</a:t>
            </a:r>
            <a:r>
              <a:rPr lang="en-SG" sz="2000" dirty="0"/>
              <a:t> with </a:t>
            </a:r>
            <a:r>
              <a:rPr lang="en-SG" sz="2000" b="1" dirty="0"/>
              <a:t>5-fold Stratified Cross-Validation </a:t>
            </a:r>
            <a:r>
              <a:rPr lang="en-SG" sz="2000" dirty="0"/>
              <a:t>was used to test different hyperparameter combinations and select the best-performing configuration based on accuracy. </a:t>
            </a:r>
          </a:p>
        </p:txBody>
      </p:sp>
    </p:spTree>
    <p:extLst>
      <p:ext uri="{BB962C8B-B14F-4D97-AF65-F5344CB8AC3E}">
        <p14:creationId xmlns:p14="http://schemas.microsoft.com/office/powerpoint/2010/main" val="1524411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C001F-E20F-23BE-2F17-9BDF0544005A}"/>
              </a:ext>
            </a:extLst>
          </p:cNvPr>
          <p:cNvSpPr>
            <a:spLocks noGrp="1"/>
          </p:cNvSpPr>
          <p:nvPr>
            <p:ph type="title"/>
          </p:nvPr>
        </p:nvSpPr>
        <p:spPr/>
        <p:txBody>
          <a:bodyPr/>
          <a:lstStyle/>
          <a:p>
            <a:r>
              <a:rPr lang="en-SG" dirty="0"/>
              <a:t>Model prediction</a:t>
            </a:r>
          </a:p>
        </p:txBody>
      </p:sp>
      <p:sp>
        <p:nvSpPr>
          <p:cNvPr id="4" name="Date Placeholder 3">
            <a:extLst>
              <a:ext uri="{FF2B5EF4-FFF2-40B4-BE49-F238E27FC236}">
                <a16:creationId xmlns:a16="http://schemas.microsoft.com/office/drawing/2014/main" id="{9A244BCD-0214-B4C7-598C-DA3DA00854CE}"/>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2DD2272C-A7AA-6FFA-5AEE-5A7085AFB9F2}"/>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1192C8C6-0B40-AD93-6392-8EC449028193}"/>
              </a:ext>
            </a:extLst>
          </p:cNvPr>
          <p:cNvSpPr>
            <a:spLocks noGrp="1"/>
          </p:cNvSpPr>
          <p:nvPr>
            <p:ph type="sldNum" sz="quarter" idx="12"/>
          </p:nvPr>
        </p:nvSpPr>
        <p:spPr/>
        <p:txBody>
          <a:bodyPr/>
          <a:lstStyle/>
          <a:p>
            <a:fld id="{4FAB73BC-B049-4115-A692-8D63A059BFB8}" type="slidenum">
              <a:rPr lang="en-US" smtClean="0"/>
              <a:t>12</a:t>
            </a:fld>
            <a:endParaRPr lang="en-US" dirty="0"/>
          </a:p>
        </p:txBody>
      </p:sp>
      <p:pic>
        <p:nvPicPr>
          <p:cNvPr id="8" name="Picture 7">
            <a:extLst>
              <a:ext uri="{FF2B5EF4-FFF2-40B4-BE49-F238E27FC236}">
                <a16:creationId xmlns:a16="http://schemas.microsoft.com/office/drawing/2014/main" id="{C9F4785F-2EF4-FABD-910A-0FFEBA5DF397}"/>
              </a:ext>
            </a:extLst>
          </p:cNvPr>
          <p:cNvPicPr>
            <a:picLocks noChangeAspect="1"/>
          </p:cNvPicPr>
          <p:nvPr/>
        </p:nvPicPr>
        <p:blipFill>
          <a:blip r:embed="rId2"/>
          <a:stretch>
            <a:fillRect/>
          </a:stretch>
        </p:blipFill>
        <p:spPr>
          <a:xfrm>
            <a:off x="3495869" y="2238409"/>
            <a:ext cx="4776589" cy="2210494"/>
          </a:xfrm>
          <a:prstGeom prst="rect">
            <a:avLst/>
          </a:prstGeom>
        </p:spPr>
      </p:pic>
      <p:sp>
        <p:nvSpPr>
          <p:cNvPr id="10" name="TextBox 9">
            <a:extLst>
              <a:ext uri="{FF2B5EF4-FFF2-40B4-BE49-F238E27FC236}">
                <a16:creationId xmlns:a16="http://schemas.microsoft.com/office/drawing/2014/main" id="{8E4CB91E-BEAD-C8B2-36C5-CCCF2FA5B033}"/>
              </a:ext>
            </a:extLst>
          </p:cNvPr>
          <p:cNvSpPr txBox="1"/>
          <p:nvPr/>
        </p:nvSpPr>
        <p:spPr>
          <a:xfrm>
            <a:off x="865632" y="4773168"/>
            <a:ext cx="10945368" cy="707886"/>
          </a:xfrm>
          <a:prstGeom prst="rect">
            <a:avLst/>
          </a:prstGeom>
          <a:noFill/>
        </p:spPr>
        <p:txBody>
          <a:bodyPr wrap="square" rtlCol="0">
            <a:spAutoFit/>
          </a:bodyPr>
          <a:lstStyle/>
          <a:p>
            <a:r>
              <a:rPr lang="en-SG" sz="2000" dirty="0"/>
              <a:t>Used each optimized model to generate predictions for both the training data and the unseen test data. This allowed comparison of model performance on data used for training versus unseen data.</a:t>
            </a:r>
          </a:p>
        </p:txBody>
      </p:sp>
    </p:spTree>
    <p:extLst>
      <p:ext uri="{BB962C8B-B14F-4D97-AF65-F5344CB8AC3E}">
        <p14:creationId xmlns:p14="http://schemas.microsoft.com/office/powerpoint/2010/main" val="344148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B5E4-0ECB-BAEB-D1DF-2984B62D3330}"/>
              </a:ext>
            </a:extLst>
          </p:cNvPr>
          <p:cNvSpPr>
            <a:spLocks noGrp="1"/>
          </p:cNvSpPr>
          <p:nvPr>
            <p:ph type="title"/>
          </p:nvPr>
        </p:nvSpPr>
        <p:spPr/>
        <p:txBody>
          <a:bodyPr/>
          <a:lstStyle/>
          <a:p>
            <a:r>
              <a:rPr lang="en-SG" dirty="0"/>
              <a:t>Model Evaluation </a:t>
            </a:r>
          </a:p>
        </p:txBody>
      </p:sp>
      <p:sp>
        <p:nvSpPr>
          <p:cNvPr id="4" name="Date Placeholder 3">
            <a:extLst>
              <a:ext uri="{FF2B5EF4-FFF2-40B4-BE49-F238E27FC236}">
                <a16:creationId xmlns:a16="http://schemas.microsoft.com/office/drawing/2014/main" id="{F0BEF22A-2D70-14AA-DEB7-A239C5C7F9D3}"/>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CB32A513-E849-7359-6D65-2AF992AC24CC}"/>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8EC042DC-BD06-C779-21B7-5F1B6F521134}"/>
              </a:ext>
            </a:extLst>
          </p:cNvPr>
          <p:cNvSpPr>
            <a:spLocks noGrp="1"/>
          </p:cNvSpPr>
          <p:nvPr>
            <p:ph type="sldNum" sz="quarter" idx="12"/>
          </p:nvPr>
        </p:nvSpPr>
        <p:spPr/>
        <p:txBody>
          <a:bodyPr/>
          <a:lstStyle/>
          <a:p>
            <a:fld id="{4FAB73BC-B049-4115-A692-8D63A059BFB8}" type="slidenum">
              <a:rPr lang="en-US" smtClean="0"/>
              <a:t>13</a:t>
            </a:fld>
            <a:endParaRPr lang="en-US" dirty="0"/>
          </a:p>
        </p:txBody>
      </p:sp>
      <p:pic>
        <p:nvPicPr>
          <p:cNvPr id="8" name="Picture 7">
            <a:extLst>
              <a:ext uri="{FF2B5EF4-FFF2-40B4-BE49-F238E27FC236}">
                <a16:creationId xmlns:a16="http://schemas.microsoft.com/office/drawing/2014/main" id="{6427FED5-4D77-08A1-8455-02CDEAE59DAC}"/>
              </a:ext>
            </a:extLst>
          </p:cNvPr>
          <p:cNvPicPr>
            <a:picLocks noChangeAspect="1"/>
          </p:cNvPicPr>
          <p:nvPr/>
        </p:nvPicPr>
        <p:blipFill>
          <a:blip r:embed="rId2"/>
          <a:stretch>
            <a:fillRect/>
          </a:stretch>
        </p:blipFill>
        <p:spPr>
          <a:xfrm>
            <a:off x="3856364" y="1727412"/>
            <a:ext cx="4963904" cy="3673023"/>
          </a:xfrm>
          <a:prstGeom prst="rect">
            <a:avLst/>
          </a:prstGeom>
        </p:spPr>
      </p:pic>
      <p:sp>
        <p:nvSpPr>
          <p:cNvPr id="10" name="TextBox 9">
            <a:extLst>
              <a:ext uri="{FF2B5EF4-FFF2-40B4-BE49-F238E27FC236}">
                <a16:creationId xmlns:a16="http://schemas.microsoft.com/office/drawing/2014/main" id="{B920DFC1-677A-1F59-AEDD-5183BBC74918}"/>
              </a:ext>
            </a:extLst>
          </p:cNvPr>
          <p:cNvSpPr txBox="1"/>
          <p:nvPr/>
        </p:nvSpPr>
        <p:spPr>
          <a:xfrm>
            <a:off x="865632" y="5564898"/>
            <a:ext cx="10945368" cy="1015663"/>
          </a:xfrm>
          <a:prstGeom prst="rect">
            <a:avLst/>
          </a:prstGeom>
          <a:noFill/>
        </p:spPr>
        <p:txBody>
          <a:bodyPr wrap="square" rtlCol="0">
            <a:spAutoFit/>
          </a:bodyPr>
          <a:lstStyle/>
          <a:p>
            <a:r>
              <a:rPr lang="en-SG" sz="2000" dirty="0"/>
              <a:t>Evaluated the three classifiers using classification reports, including precision, recall, F1-score, and accuracy. Both training and test performance were examined to assess predictive performance and possible overfitting. </a:t>
            </a:r>
          </a:p>
        </p:txBody>
      </p:sp>
    </p:spTree>
    <p:extLst>
      <p:ext uri="{BB962C8B-B14F-4D97-AF65-F5344CB8AC3E}">
        <p14:creationId xmlns:p14="http://schemas.microsoft.com/office/powerpoint/2010/main" val="4285190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163A6-D2CD-D097-862B-26A36B3589DD}"/>
              </a:ext>
            </a:extLst>
          </p:cNvPr>
          <p:cNvSpPr>
            <a:spLocks noGrp="1"/>
          </p:cNvSpPr>
          <p:nvPr>
            <p:ph type="title"/>
          </p:nvPr>
        </p:nvSpPr>
        <p:spPr/>
        <p:txBody>
          <a:bodyPr/>
          <a:lstStyle/>
          <a:p>
            <a:r>
              <a:rPr lang="en-SG" dirty="0"/>
              <a:t>Model Evaluation</a:t>
            </a:r>
          </a:p>
        </p:txBody>
      </p:sp>
      <p:sp>
        <p:nvSpPr>
          <p:cNvPr id="4" name="Date Placeholder 3">
            <a:extLst>
              <a:ext uri="{FF2B5EF4-FFF2-40B4-BE49-F238E27FC236}">
                <a16:creationId xmlns:a16="http://schemas.microsoft.com/office/drawing/2014/main" id="{FA8C1BAB-FEF2-4990-35C6-5FF4CE4F8C6B}"/>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883E76AD-1A8F-F727-EFE8-1814682A67CE}"/>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211AA968-7593-E380-6072-3A6C87B50C77}"/>
              </a:ext>
            </a:extLst>
          </p:cNvPr>
          <p:cNvSpPr>
            <a:spLocks noGrp="1"/>
          </p:cNvSpPr>
          <p:nvPr>
            <p:ph type="sldNum" sz="quarter" idx="12"/>
          </p:nvPr>
        </p:nvSpPr>
        <p:spPr/>
        <p:txBody>
          <a:bodyPr/>
          <a:lstStyle/>
          <a:p>
            <a:fld id="{4FAB73BC-B049-4115-A692-8D63A059BFB8}" type="slidenum">
              <a:rPr lang="en-US" smtClean="0"/>
              <a:t>14</a:t>
            </a:fld>
            <a:endParaRPr lang="en-US" dirty="0"/>
          </a:p>
        </p:txBody>
      </p:sp>
      <p:pic>
        <p:nvPicPr>
          <p:cNvPr id="8" name="Picture 7">
            <a:extLst>
              <a:ext uri="{FF2B5EF4-FFF2-40B4-BE49-F238E27FC236}">
                <a16:creationId xmlns:a16="http://schemas.microsoft.com/office/drawing/2014/main" id="{7EF52C04-9999-317F-0CFB-84B5E00E9C72}"/>
              </a:ext>
            </a:extLst>
          </p:cNvPr>
          <p:cNvPicPr>
            <a:picLocks noChangeAspect="1"/>
          </p:cNvPicPr>
          <p:nvPr/>
        </p:nvPicPr>
        <p:blipFill>
          <a:blip r:embed="rId2"/>
          <a:stretch>
            <a:fillRect/>
          </a:stretch>
        </p:blipFill>
        <p:spPr>
          <a:xfrm>
            <a:off x="569180" y="2413251"/>
            <a:ext cx="3560611" cy="2631021"/>
          </a:xfrm>
          <a:prstGeom prst="rect">
            <a:avLst/>
          </a:prstGeom>
        </p:spPr>
      </p:pic>
      <p:pic>
        <p:nvPicPr>
          <p:cNvPr id="10" name="Picture 9">
            <a:extLst>
              <a:ext uri="{FF2B5EF4-FFF2-40B4-BE49-F238E27FC236}">
                <a16:creationId xmlns:a16="http://schemas.microsoft.com/office/drawing/2014/main" id="{D6646105-F2CC-E609-8D28-322C27AA2567}"/>
              </a:ext>
            </a:extLst>
          </p:cNvPr>
          <p:cNvPicPr>
            <a:picLocks noChangeAspect="1"/>
          </p:cNvPicPr>
          <p:nvPr/>
        </p:nvPicPr>
        <p:blipFill>
          <a:blip r:embed="rId3"/>
          <a:stretch>
            <a:fillRect/>
          </a:stretch>
        </p:blipFill>
        <p:spPr>
          <a:xfrm>
            <a:off x="4115641" y="2363011"/>
            <a:ext cx="3882930" cy="2886210"/>
          </a:xfrm>
          <a:prstGeom prst="rect">
            <a:avLst/>
          </a:prstGeom>
        </p:spPr>
      </p:pic>
      <p:pic>
        <p:nvPicPr>
          <p:cNvPr id="15" name="Picture 14">
            <a:extLst>
              <a:ext uri="{FF2B5EF4-FFF2-40B4-BE49-F238E27FC236}">
                <a16:creationId xmlns:a16="http://schemas.microsoft.com/office/drawing/2014/main" id="{D57277EA-0FBA-EECF-709F-9E127B039254}"/>
              </a:ext>
            </a:extLst>
          </p:cNvPr>
          <p:cNvPicPr>
            <a:picLocks noChangeAspect="1"/>
          </p:cNvPicPr>
          <p:nvPr/>
        </p:nvPicPr>
        <p:blipFill>
          <a:blip r:embed="rId4"/>
          <a:stretch>
            <a:fillRect/>
          </a:stretch>
        </p:blipFill>
        <p:spPr>
          <a:xfrm>
            <a:off x="7998571" y="2393978"/>
            <a:ext cx="3882930" cy="2899910"/>
          </a:xfrm>
          <a:prstGeom prst="rect">
            <a:avLst/>
          </a:prstGeom>
        </p:spPr>
      </p:pic>
    </p:spTree>
    <p:extLst>
      <p:ext uri="{BB962C8B-B14F-4D97-AF65-F5344CB8AC3E}">
        <p14:creationId xmlns:p14="http://schemas.microsoft.com/office/powerpoint/2010/main" val="3903334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4D42A-31FF-2233-C65B-58633072E3E1}"/>
              </a:ext>
            </a:extLst>
          </p:cNvPr>
          <p:cNvSpPr>
            <a:spLocks noGrp="1"/>
          </p:cNvSpPr>
          <p:nvPr>
            <p:ph type="title"/>
          </p:nvPr>
        </p:nvSpPr>
        <p:spPr/>
        <p:txBody>
          <a:bodyPr/>
          <a:lstStyle/>
          <a:p>
            <a:r>
              <a:rPr lang="en-SG" dirty="0"/>
              <a:t>Confusion matrix analysis</a:t>
            </a:r>
          </a:p>
        </p:txBody>
      </p:sp>
      <p:sp>
        <p:nvSpPr>
          <p:cNvPr id="4" name="Date Placeholder 3">
            <a:extLst>
              <a:ext uri="{FF2B5EF4-FFF2-40B4-BE49-F238E27FC236}">
                <a16:creationId xmlns:a16="http://schemas.microsoft.com/office/drawing/2014/main" id="{62F34820-ED0F-8A5F-FD45-3FF8F01C8B0C}"/>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5155AE76-14BA-13DC-900F-46F712DFDC20}"/>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6BF5D64A-CF5E-0CD0-7EDA-B3B8FAF2275D}"/>
              </a:ext>
            </a:extLst>
          </p:cNvPr>
          <p:cNvSpPr>
            <a:spLocks noGrp="1"/>
          </p:cNvSpPr>
          <p:nvPr>
            <p:ph type="sldNum" sz="quarter" idx="12"/>
          </p:nvPr>
        </p:nvSpPr>
        <p:spPr/>
        <p:txBody>
          <a:bodyPr/>
          <a:lstStyle/>
          <a:p>
            <a:fld id="{4FAB73BC-B049-4115-A692-8D63A059BFB8}" type="slidenum">
              <a:rPr lang="en-US" smtClean="0"/>
              <a:t>15</a:t>
            </a:fld>
            <a:endParaRPr lang="en-US" dirty="0"/>
          </a:p>
        </p:txBody>
      </p:sp>
      <p:pic>
        <p:nvPicPr>
          <p:cNvPr id="8" name="Picture 7">
            <a:extLst>
              <a:ext uri="{FF2B5EF4-FFF2-40B4-BE49-F238E27FC236}">
                <a16:creationId xmlns:a16="http://schemas.microsoft.com/office/drawing/2014/main" id="{301EAAFC-8619-FB40-4009-378F649AA46A}"/>
              </a:ext>
            </a:extLst>
          </p:cNvPr>
          <p:cNvPicPr>
            <a:picLocks noChangeAspect="1"/>
          </p:cNvPicPr>
          <p:nvPr/>
        </p:nvPicPr>
        <p:blipFill>
          <a:blip r:embed="rId2"/>
          <a:stretch>
            <a:fillRect/>
          </a:stretch>
        </p:blipFill>
        <p:spPr>
          <a:xfrm>
            <a:off x="2584418" y="2335435"/>
            <a:ext cx="6599492" cy="2187130"/>
          </a:xfrm>
          <a:prstGeom prst="rect">
            <a:avLst/>
          </a:prstGeom>
        </p:spPr>
      </p:pic>
      <p:sp>
        <p:nvSpPr>
          <p:cNvPr id="10" name="TextBox 9">
            <a:extLst>
              <a:ext uri="{FF2B5EF4-FFF2-40B4-BE49-F238E27FC236}">
                <a16:creationId xmlns:a16="http://schemas.microsoft.com/office/drawing/2014/main" id="{24C5E4B7-129B-EF62-45B8-5E299CA925E3}"/>
              </a:ext>
            </a:extLst>
          </p:cNvPr>
          <p:cNvSpPr txBox="1"/>
          <p:nvPr/>
        </p:nvSpPr>
        <p:spPr>
          <a:xfrm>
            <a:off x="865632" y="4988803"/>
            <a:ext cx="10945368" cy="707886"/>
          </a:xfrm>
          <a:prstGeom prst="rect">
            <a:avLst/>
          </a:prstGeom>
          <a:noFill/>
        </p:spPr>
        <p:txBody>
          <a:bodyPr wrap="square" rtlCol="0">
            <a:spAutoFit/>
          </a:bodyPr>
          <a:lstStyle/>
          <a:p>
            <a:r>
              <a:rPr lang="en-SG" sz="2000" dirty="0"/>
              <a:t>Generated confusion matrices for Random Forest, Logistic Regression, and Decision Tree on both training and test datasets to examine correct and incorrect diabetes classifications. </a:t>
            </a:r>
          </a:p>
        </p:txBody>
      </p:sp>
    </p:spTree>
    <p:extLst>
      <p:ext uri="{BB962C8B-B14F-4D97-AF65-F5344CB8AC3E}">
        <p14:creationId xmlns:p14="http://schemas.microsoft.com/office/powerpoint/2010/main" val="326339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619D3-9BEE-1866-5655-3CD245D56CB2}"/>
              </a:ext>
            </a:extLst>
          </p:cNvPr>
          <p:cNvSpPr>
            <a:spLocks noGrp="1"/>
          </p:cNvSpPr>
          <p:nvPr>
            <p:ph type="title"/>
          </p:nvPr>
        </p:nvSpPr>
        <p:spPr/>
        <p:txBody>
          <a:bodyPr/>
          <a:lstStyle/>
          <a:p>
            <a:r>
              <a:rPr lang="en-SG" dirty="0"/>
              <a:t>Confusion Matrix Analysis</a:t>
            </a:r>
          </a:p>
        </p:txBody>
      </p:sp>
      <p:sp>
        <p:nvSpPr>
          <p:cNvPr id="4" name="Date Placeholder 3">
            <a:extLst>
              <a:ext uri="{FF2B5EF4-FFF2-40B4-BE49-F238E27FC236}">
                <a16:creationId xmlns:a16="http://schemas.microsoft.com/office/drawing/2014/main" id="{9071DE05-0ACE-36BB-11BE-6FE9138020BB}"/>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22C030F4-33CD-6346-A921-B266AABDF944}"/>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3F9EFAD1-5089-4B19-C05D-8DF5B2922686}"/>
              </a:ext>
            </a:extLst>
          </p:cNvPr>
          <p:cNvSpPr>
            <a:spLocks noGrp="1"/>
          </p:cNvSpPr>
          <p:nvPr>
            <p:ph type="sldNum" sz="quarter" idx="12"/>
          </p:nvPr>
        </p:nvSpPr>
        <p:spPr/>
        <p:txBody>
          <a:bodyPr/>
          <a:lstStyle/>
          <a:p>
            <a:fld id="{4FAB73BC-B049-4115-A692-8D63A059BFB8}" type="slidenum">
              <a:rPr lang="en-US" smtClean="0"/>
              <a:t>16</a:t>
            </a:fld>
            <a:endParaRPr lang="en-US" dirty="0"/>
          </a:p>
        </p:txBody>
      </p:sp>
      <p:pic>
        <p:nvPicPr>
          <p:cNvPr id="8" name="Picture 7">
            <a:extLst>
              <a:ext uri="{FF2B5EF4-FFF2-40B4-BE49-F238E27FC236}">
                <a16:creationId xmlns:a16="http://schemas.microsoft.com/office/drawing/2014/main" id="{483CEEF3-1A80-26DB-DF65-300C080FF904}"/>
              </a:ext>
            </a:extLst>
          </p:cNvPr>
          <p:cNvPicPr>
            <a:picLocks noChangeAspect="1"/>
          </p:cNvPicPr>
          <p:nvPr/>
        </p:nvPicPr>
        <p:blipFill>
          <a:blip r:embed="rId2"/>
          <a:stretch>
            <a:fillRect/>
          </a:stretch>
        </p:blipFill>
        <p:spPr>
          <a:xfrm>
            <a:off x="155412" y="1814453"/>
            <a:ext cx="3019870" cy="2264903"/>
          </a:xfrm>
          <a:prstGeom prst="rect">
            <a:avLst/>
          </a:prstGeom>
        </p:spPr>
      </p:pic>
      <p:pic>
        <p:nvPicPr>
          <p:cNvPr id="10" name="Picture 9">
            <a:extLst>
              <a:ext uri="{FF2B5EF4-FFF2-40B4-BE49-F238E27FC236}">
                <a16:creationId xmlns:a16="http://schemas.microsoft.com/office/drawing/2014/main" id="{CBC4A65E-0844-A34A-F522-70B27D511729}"/>
              </a:ext>
            </a:extLst>
          </p:cNvPr>
          <p:cNvPicPr>
            <a:picLocks noChangeAspect="1"/>
          </p:cNvPicPr>
          <p:nvPr/>
        </p:nvPicPr>
        <p:blipFill>
          <a:blip r:embed="rId3"/>
          <a:stretch>
            <a:fillRect/>
          </a:stretch>
        </p:blipFill>
        <p:spPr>
          <a:xfrm>
            <a:off x="3079282" y="1814452"/>
            <a:ext cx="3111390" cy="2333543"/>
          </a:xfrm>
          <a:prstGeom prst="rect">
            <a:avLst/>
          </a:prstGeom>
        </p:spPr>
      </p:pic>
      <p:pic>
        <p:nvPicPr>
          <p:cNvPr id="12" name="Picture 11">
            <a:extLst>
              <a:ext uri="{FF2B5EF4-FFF2-40B4-BE49-F238E27FC236}">
                <a16:creationId xmlns:a16="http://schemas.microsoft.com/office/drawing/2014/main" id="{5361353F-EDFC-B635-2ECB-16DF5475007C}"/>
              </a:ext>
            </a:extLst>
          </p:cNvPr>
          <p:cNvPicPr>
            <a:picLocks noChangeAspect="1"/>
          </p:cNvPicPr>
          <p:nvPr/>
        </p:nvPicPr>
        <p:blipFill>
          <a:blip r:embed="rId4"/>
          <a:stretch>
            <a:fillRect/>
          </a:stretch>
        </p:blipFill>
        <p:spPr>
          <a:xfrm>
            <a:off x="6069008" y="1848771"/>
            <a:ext cx="3019870" cy="2264903"/>
          </a:xfrm>
          <a:prstGeom prst="rect">
            <a:avLst/>
          </a:prstGeom>
        </p:spPr>
      </p:pic>
      <p:pic>
        <p:nvPicPr>
          <p:cNvPr id="14" name="Picture 13">
            <a:extLst>
              <a:ext uri="{FF2B5EF4-FFF2-40B4-BE49-F238E27FC236}">
                <a16:creationId xmlns:a16="http://schemas.microsoft.com/office/drawing/2014/main" id="{4056A862-94EE-2DDF-B719-3FAB7282A93E}"/>
              </a:ext>
            </a:extLst>
          </p:cNvPr>
          <p:cNvPicPr>
            <a:picLocks noChangeAspect="1"/>
          </p:cNvPicPr>
          <p:nvPr/>
        </p:nvPicPr>
        <p:blipFill>
          <a:blip r:embed="rId5"/>
          <a:stretch>
            <a:fillRect/>
          </a:stretch>
        </p:blipFill>
        <p:spPr>
          <a:xfrm>
            <a:off x="8949983" y="1814450"/>
            <a:ext cx="3111391" cy="2333543"/>
          </a:xfrm>
          <a:prstGeom prst="rect">
            <a:avLst/>
          </a:prstGeom>
        </p:spPr>
      </p:pic>
      <p:pic>
        <p:nvPicPr>
          <p:cNvPr id="16" name="Picture 15">
            <a:extLst>
              <a:ext uri="{FF2B5EF4-FFF2-40B4-BE49-F238E27FC236}">
                <a16:creationId xmlns:a16="http://schemas.microsoft.com/office/drawing/2014/main" id="{2305B346-B829-A47A-072B-8A3A4121D80B}"/>
              </a:ext>
            </a:extLst>
          </p:cNvPr>
          <p:cNvPicPr>
            <a:picLocks noChangeAspect="1"/>
          </p:cNvPicPr>
          <p:nvPr/>
        </p:nvPicPr>
        <p:blipFill>
          <a:blip r:embed="rId6"/>
          <a:stretch>
            <a:fillRect/>
          </a:stretch>
        </p:blipFill>
        <p:spPr>
          <a:xfrm>
            <a:off x="2675380" y="4229845"/>
            <a:ext cx="3079331" cy="2309498"/>
          </a:xfrm>
          <a:prstGeom prst="rect">
            <a:avLst/>
          </a:prstGeom>
        </p:spPr>
      </p:pic>
      <p:pic>
        <p:nvPicPr>
          <p:cNvPr id="18" name="Picture 17">
            <a:extLst>
              <a:ext uri="{FF2B5EF4-FFF2-40B4-BE49-F238E27FC236}">
                <a16:creationId xmlns:a16="http://schemas.microsoft.com/office/drawing/2014/main" id="{C71B2C4B-20BF-BB22-3D46-6D90B4D140DB}"/>
              </a:ext>
            </a:extLst>
          </p:cNvPr>
          <p:cNvPicPr>
            <a:picLocks noChangeAspect="1"/>
          </p:cNvPicPr>
          <p:nvPr/>
        </p:nvPicPr>
        <p:blipFill>
          <a:blip r:embed="rId7"/>
          <a:stretch>
            <a:fillRect/>
          </a:stretch>
        </p:blipFill>
        <p:spPr>
          <a:xfrm>
            <a:off x="5884164" y="4291373"/>
            <a:ext cx="2951536" cy="2213652"/>
          </a:xfrm>
          <a:prstGeom prst="rect">
            <a:avLst/>
          </a:prstGeom>
        </p:spPr>
      </p:pic>
    </p:spTree>
    <p:extLst>
      <p:ext uri="{BB962C8B-B14F-4D97-AF65-F5344CB8AC3E}">
        <p14:creationId xmlns:p14="http://schemas.microsoft.com/office/powerpoint/2010/main" val="597720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8808C-3F24-D677-2976-A77EEBD8B9DB}"/>
              </a:ext>
            </a:extLst>
          </p:cNvPr>
          <p:cNvSpPr>
            <a:spLocks noGrp="1"/>
          </p:cNvSpPr>
          <p:nvPr>
            <p:ph type="title"/>
          </p:nvPr>
        </p:nvSpPr>
        <p:spPr/>
        <p:txBody>
          <a:bodyPr/>
          <a:lstStyle/>
          <a:p>
            <a:r>
              <a:rPr lang="en-SG" dirty="0"/>
              <a:t>Feature Importances of Best Model</a:t>
            </a:r>
          </a:p>
        </p:txBody>
      </p:sp>
      <p:sp>
        <p:nvSpPr>
          <p:cNvPr id="4" name="Date Placeholder 3">
            <a:extLst>
              <a:ext uri="{FF2B5EF4-FFF2-40B4-BE49-F238E27FC236}">
                <a16:creationId xmlns:a16="http://schemas.microsoft.com/office/drawing/2014/main" id="{2A836F89-7494-C2EC-BD2B-934AF4045A4B}"/>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2166F2BD-B745-58C7-E5C9-BC5E39F7DE10}"/>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F2595355-37AA-97C7-3AEA-39177FF39D80}"/>
              </a:ext>
            </a:extLst>
          </p:cNvPr>
          <p:cNvSpPr>
            <a:spLocks noGrp="1"/>
          </p:cNvSpPr>
          <p:nvPr>
            <p:ph type="sldNum" sz="quarter" idx="12"/>
          </p:nvPr>
        </p:nvSpPr>
        <p:spPr/>
        <p:txBody>
          <a:bodyPr/>
          <a:lstStyle/>
          <a:p>
            <a:fld id="{4FAB73BC-B049-4115-A692-8D63A059BFB8}" type="slidenum">
              <a:rPr lang="en-US" smtClean="0"/>
              <a:t>17</a:t>
            </a:fld>
            <a:endParaRPr lang="en-US" dirty="0"/>
          </a:p>
        </p:txBody>
      </p:sp>
      <p:pic>
        <p:nvPicPr>
          <p:cNvPr id="8" name="Picture 7">
            <a:extLst>
              <a:ext uri="{FF2B5EF4-FFF2-40B4-BE49-F238E27FC236}">
                <a16:creationId xmlns:a16="http://schemas.microsoft.com/office/drawing/2014/main" id="{5B554924-D087-B029-9DF5-66EEF193C20F}"/>
              </a:ext>
            </a:extLst>
          </p:cNvPr>
          <p:cNvPicPr>
            <a:picLocks noChangeAspect="1"/>
          </p:cNvPicPr>
          <p:nvPr/>
        </p:nvPicPr>
        <p:blipFill>
          <a:blip r:embed="rId2"/>
          <a:stretch>
            <a:fillRect/>
          </a:stretch>
        </p:blipFill>
        <p:spPr>
          <a:xfrm>
            <a:off x="3059382" y="1736853"/>
            <a:ext cx="5852172" cy="4389129"/>
          </a:xfrm>
          <a:prstGeom prst="rect">
            <a:avLst/>
          </a:prstGeom>
        </p:spPr>
      </p:pic>
    </p:spTree>
    <p:extLst>
      <p:ext uri="{BB962C8B-B14F-4D97-AF65-F5344CB8AC3E}">
        <p14:creationId xmlns:p14="http://schemas.microsoft.com/office/powerpoint/2010/main" val="1634394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E0A85-F887-DB06-76A8-63337CE48F75}"/>
              </a:ext>
            </a:extLst>
          </p:cNvPr>
          <p:cNvSpPr>
            <a:spLocks noGrp="1"/>
          </p:cNvSpPr>
          <p:nvPr>
            <p:ph type="title"/>
          </p:nvPr>
        </p:nvSpPr>
        <p:spPr/>
        <p:txBody>
          <a:bodyPr/>
          <a:lstStyle/>
          <a:p>
            <a:r>
              <a:rPr lang="en-SG" dirty="0"/>
              <a:t>Model deployment preparation</a:t>
            </a:r>
          </a:p>
        </p:txBody>
      </p:sp>
      <p:sp>
        <p:nvSpPr>
          <p:cNvPr id="4" name="Date Placeholder 3">
            <a:extLst>
              <a:ext uri="{FF2B5EF4-FFF2-40B4-BE49-F238E27FC236}">
                <a16:creationId xmlns:a16="http://schemas.microsoft.com/office/drawing/2014/main" id="{F9972C1F-8F88-53B7-1E40-8FA80BC7B615}"/>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3C5BB6E1-96D1-089B-2992-B40310FDA893}"/>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FD0E3257-2382-278C-6F58-343D6EDEC933}"/>
              </a:ext>
            </a:extLst>
          </p:cNvPr>
          <p:cNvSpPr>
            <a:spLocks noGrp="1"/>
          </p:cNvSpPr>
          <p:nvPr>
            <p:ph type="sldNum" sz="quarter" idx="12"/>
          </p:nvPr>
        </p:nvSpPr>
        <p:spPr/>
        <p:txBody>
          <a:bodyPr/>
          <a:lstStyle/>
          <a:p>
            <a:fld id="{4FAB73BC-B049-4115-A692-8D63A059BFB8}" type="slidenum">
              <a:rPr lang="en-US" smtClean="0"/>
              <a:t>18</a:t>
            </a:fld>
            <a:endParaRPr lang="en-US" dirty="0"/>
          </a:p>
        </p:txBody>
      </p:sp>
      <p:pic>
        <p:nvPicPr>
          <p:cNvPr id="8" name="Picture 7">
            <a:extLst>
              <a:ext uri="{FF2B5EF4-FFF2-40B4-BE49-F238E27FC236}">
                <a16:creationId xmlns:a16="http://schemas.microsoft.com/office/drawing/2014/main" id="{315057F1-ACA9-9D76-C837-F6EFCCCF4205}"/>
              </a:ext>
            </a:extLst>
          </p:cNvPr>
          <p:cNvPicPr>
            <a:picLocks noChangeAspect="1"/>
          </p:cNvPicPr>
          <p:nvPr/>
        </p:nvPicPr>
        <p:blipFill>
          <a:blip r:embed="rId2"/>
          <a:stretch>
            <a:fillRect/>
          </a:stretch>
        </p:blipFill>
        <p:spPr>
          <a:xfrm>
            <a:off x="3067588" y="3128744"/>
            <a:ext cx="6618409" cy="833655"/>
          </a:xfrm>
          <a:prstGeom prst="rect">
            <a:avLst/>
          </a:prstGeom>
        </p:spPr>
      </p:pic>
      <p:sp>
        <p:nvSpPr>
          <p:cNvPr id="10" name="TextBox 9">
            <a:extLst>
              <a:ext uri="{FF2B5EF4-FFF2-40B4-BE49-F238E27FC236}">
                <a16:creationId xmlns:a16="http://schemas.microsoft.com/office/drawing/2014/main" id="{E2BA461D-F86A-5DC9-614B-6442CFECEAA1}"/>
              </a:ext>
            </a:extLst>
          </p:cNvPr>
          <p:cNvSpPr txBox="1"/>
          <p:nvPr/>
        </p:nvSpPr>
        <p:spPr>
          <a:xfrm>
            <a:off x="865632" y="4988803"/>
            <a:ext cx="10945368" cy="1015663"/>
          </a:xfrm>
          <a:prstGeom prst="rect">
            <a:avLst/>
          </a:prstGeom>
          <a:noFill/>
        </p:spPr>
        <p:txBody>
          <a:bodyPr wrap="square" rtlCol="0">
            <a:spAutoFit/>
          </a:bodyPr>
          <a:lstStyle/>
          <a:p>
            <a:r>
              <a:rPr lang="en-SG" sz="2000" dirty="0"/>
              <a:t>Saved the best Random Forest estimator from the grid search as </a:t>
            </a:r>
            <a:r>
              <a:rPr lang="en-SG" sz="2000" dirty="0" err="1"/>
              <a:t>random_forest_model.joblib</a:t>
            </a:r>
            <a:r>
              <a:rPr lang="en-SG" sz="2000" dirty="0"/>
              <a:t> and saved the fitted scaler as </a:t>
            </a:r>
            <a:r>
              <a:rPr lang="en-SG" sz="2000" dirty="0" err="1"/>
              <a:t>scaler.joblib</a:t>
            </a:r>
            <a:r>
              <a:rPr lang="en-SG" sz="2000" dirty="0"/>
              <a:t>. These files can later be loaded by an application/ API to make predictions on new data. </a:t>
            </a:r>
          </a:p>
        </p:txBody>
      </p:sp>
    </p:spTree>
    <p:extLst>
      <p:ext uri="{BB962C8B-B14F-4D97-AF65-F5344CB8AC3E}">
        <p14:creationId xmlns:p14="http://schemas.microsoft.com/office/powerpoint/2010/main" val="1106228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06EC76-06EB-B9B5-80A5-C0662FDFAA0E}"/>
              </a:ext>
            </a:extLst>
          </p:cNvPr>
          <p:cNvSpPr>
            <a:spLocks noGrp="1"/>
          </p:cNvSpPr>
          <p:nvPr>
            <p:ph type="title"/>
          </p:nvPr>
        </p:nvSpPr>
        <p:spPr/>
        <p:txBody>
          <a:bodyPr/>
          <a:lstStyle/>
          <a:p>
            <a:r>
              <a:rPr lang="en-SG" dirty="0"/>
              <a:t>Demo working implementation</a:t>
            </a:r>
          </a:p>
        </p:txBody>
      </p:sp>
      <p:sp>
        <p:nvSpPr>
          <p:cNvPr id="8" name="Text Placeholder 7">
            <a:extLst>
              <a:ext uri="{FF2B5EF4-FFF2-40B4-BE49-F238E27FC236}">
                <a16:creationId xmlns:a16="http://schemas.microsoft.com/office/drawing/2014/main" id="{A4504F4E-F448-D006-FC55-95A1217019A4}"/>
              </a:ext>
            </a:extLst>
          </p:cNvPr>
          <p:cNvSpPr>
            <a:spLocks noGrp="1"/>
          </p:cNvSpPr>
          <p:nvPr>
            <p:ph type="body" idx="1"/>
          </p:nvPr>
        </p:nvSpPr>
        <p:spPr/>
        <p:txBody>
          <a:bodyPr/>
          <a:lstStyle/>
          <a:p>
            <a:endParaRPr lang="en-SG"/>
          </a:p>
        </p:txBody>
      </p:sp>
      <p:sp>
        <p:nvSpPr>
          <p:cNvPr id="4" name="Date Placeholder 3">
            <a:extLst>
              <a:ext uri="{FF2B5EF4-FFF2-40B4-BE49-F238E27FC236}">
                <a16:creationId xmlns:a16="http://schemas.microsoft.com/office/drawing/2014/main" id="{A672633C-2813-B0A6-9A09-CD50A3F6E2E7}"/>
              </a:ext>
            </a:extLst>
          </p:cNvPr>
          <p:cNvSpPr>
            <a:spLocks noGrp="1"/>
          </p:cNvSpPr>
          <p:nvPr>
            <p:ph type="dt" sz="half" idx="10"/>
          </p:nvPr>
        </p:nvSpPr>
        <p:spPr/>
        <p:txBody>
          <a:bodyPr/>
          <a:lstStyle/>
          <a:p>
            <a:fld id="{53F8AFFE-7D21-49C3-A787-D64AF1905E62}" type="datetime1">
              <a:rPr lang="en-US" smtClean="0"/>
              <a:t>8/14/2026</a:t>
            </a:fld>
            <a:endParaRPr lang="en-US" dirty="0"/>
          </a:p>
        </p:txBody>
      </p:sp>
      <p:sp>
        <p:nvSpPr>
          <p:cNvPr id="5" name="Footer Placeholder 4">
            <a:extLst>
              <a:ext uri="{FF2B5EF4-FFF2-40B4-BE49-F238E27FC236}">
                <a16:creationId xmlns:a16="http://schemas.microsoft.com/office/drawing/2014/main" id="{FA46F89A-53A1-4633-1F90-E1D69955976E}"/>
              </a:ext>
            </a:extLst>
          </p:cNvPr>
          <p:cNvSpPr>
            <a:spLocks noGrp="1"/>
          </p:cNvSpPr>
          <p:nvPr>
            <p:ph type="ftr" sz="quarter" idx="11"/>
          </p:nvPr>
        </p:nvSpPr>
        <p:spPr/>
        <p:txBody>
          <a:bodyPr/>
          <a:lstStyle/>
          <a:p>
            <a:r>
              <a:rPr lang="en-US"/>
              <a:t>SDAAI/Final Presentation/Capstone Project 2021</a:t>
            </a:r>
            <a:endParaRPr lang="en-US" dirty="0"/>
          </a:p>
        </p:txBody>
      </p:sp>
      <p:sp>
        <p:nvSpPr>
          <p:cNvPr id="6" name="Slide Number Placeholder 5">
            <a:extLst>
              <a:ext uri="{FF2B5EF4-FFF2-40B4-BE49-F238E27FC236}">
                <a16:creationId xmlns:a16="http://schemas.microsoft.com/office/drawing/2014/main" id="{F5C6F57F-62A4-90D5-E94F-A4A3D689E174}"/>
              </a:ext>
            </a:extLst>
          </p:cNvPr>
          <p:cNvSpPr>
            <a:spLocks noGrp="1"/>
          </p:cNvSpPr>
          <p:nvPr>
            <p:ph type="sldNum" sz="quarter" idx="12"/>
          </p:nvPr>
        </p:nvSpPr>
        <p:spPr/>
        <p:txBody>
          <a:bodyPr/>
          <a:lstStyle/>
          <a:p>
            <a:fld id="{4FAB73BC-B049-4115-A692-8D63A059BFB8}" type="slidenum">
              <a:rPr lang="en-US" smtClean="0"/>
              <a:t>19</a:t>
            </a:fld>
            <a:endParaRPr lang="en-US" dirty="0"/>
          </a:p>
        </p:txBody>
      </p:sp>
    </p:spTree>
    <p:extLst>
      <p:ext uri="{BB962C8B-B14F-4D97-AF65-F5344CB8AC3E}">
        <p14:creationId xmlns:p14="http://schemas.microsoft.com/office/powerpoint/2010/main" val="5089402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Integral design</Template>
  <TotalTime>63</TotalTime>
  <Words>643</Words>
  <Application>Microsoft Office PowerPoint</Application>
  <PresentationFormat>Widescreen</PresentationFormat>
  <Paragraphs>91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Tw Cen MT</vt:lpstr>
      <vt:lpstr>Tw Cen MT Condensed</vt:lpstr>
      <vt:lpstr>Wingdings 3</vt:lpstr>
      <vt:lpstr>Integral</vt:lpstr>
      <vt:lpstr>Streamlit-Based-Diabetes-Risk-Classification-Using-Machine-Learning</vt:lpstr>
      <vt:lpstr>Imported Libraries</vt:lpstr>
      <vt:lpstr>Load Data</vt:lpstr>
      <vt:lpstr>Inspect and Data Cleaning</vt:lpstr>
      <vt:lpstr>Categorical encoding</vt:lpstr>
      <vt:lpstr>Exploratory Data analysis (EDA)</vt:lpstr>
      <vt:lpstr>Train-Test Split</vt:lpstr>
      <vt:lpstr>Class distribution analysis</vt:lpstr>
      <vt:lpstr>Class imbalance handling</vt:lpstr>
      <vt:lpstr>Feature standardization</vt:lpstr>
      <vt:lpstr>Model Training &amp; Hyperparameter Tuning</vt:lpstr>
      <vt:lpstr>Model prediction</vt:lpstr>
      <vt:lpstr>Model Evaluation </vt:lpstr>
      <vt:lpstr>Model Evaluation</vt:lpstr>
      <vt:lpstr>Confusion matrix analysis</vt:lpstr>
      <vt:lpstr>Confusion Matrix Analysis</vt:lpstr>
      <vt:lpstr>Feature Importances of Best Model</vt:lpstr>
      <vt:lpstr>Model deployment preparation</vt:lpstr>
      <vt:lpstr>Demo working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Wong Qi Yuan, Jeffrey</dc:creator>
  <cp:lastModifiedBy>Wong Qi Yuan, Jeffrey</cp:lastModifiedBy>
  <cp:revision>59</cp:revision>
  <dcterms:created xsi:type="dcterms:W3CDTF">2026-08-10T01:57:47Z</dcterms:created>
  <dcterms:modified xsi:type="dcterms:W3CDTF">2026-08-14T06:56:16Z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